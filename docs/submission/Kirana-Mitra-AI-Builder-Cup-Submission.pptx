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and the five concrete gaps between the demo and production.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Firestore + BQML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Shop, stock and orders saved;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(Cloud Storage; Android APK) · camera · mic</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Firestore client; Cloud Scheduler calls the daily restock endpoint</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40-item catalogue in context; structured JSON output; unknown products offered as new items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Firestore (Native, asia-south1)</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Shops seeded with the catalogue, stock, messages, orders, feedback; transactional updates and undo; survives redeploys</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and festival uplift; feedback table</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3EFEA"/>
          </a:solidFill>
          <a:ln w="12700">
            <a:solidFill>
              <a:srgbClr val="F3EFEA"/>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1A1A1A"/>
                </a:solidFill>
              </a:rPr>
              <a:t>Cloud Storage · Firebase project</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1A1A1A"/>
                </a:solidFill>
              </a:rPr>
              <a:t>Serves the Flutter web app today; photos and audio; Firebase Hosting configured as the next web target</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Roadmap: Firebase Auth · Vertex AI Search · ADK</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Sign-in, catalogue matching for spoken names, multi-agent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on one warm instance; daily 06:00 auto-restock run through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Database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Firestore (Native mode, asia-south1)</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Shops seeded with the 40-item catalogue, stock, messages, orders and feedback; transactional updates and undo; data survives redeploys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Hosting /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 Firebase project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serves the Flutter web build and holds photos and audio; Firebase Hosting configured for the web app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live,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or sample shelf, real product photos, self-healing shop session, 56 dp targets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Firebase Auth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Sign-in,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Firestore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Documents per shop; inside the free tier at pilot volume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502920" y="1188720"/>
            <a:ext cx="1572768" cy="3200400"/>
          </a:xfrm>
          <a:prstGeom prst="rect">
            <a:avLst/>
          </a:prstGeom>
        </p:spPr>
      </p:pic>
      <p:sp>
        <p:nvSpPr>
          <p:cNvPr id="4" name="Text 1"/>
          <p:cNvSpPr txBox="1"/>
          <p:nvPr/>
        </p:nvSpPr>
        <p:spPr>
          <a:xfrm>
            <a:off x="32004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Typed or spoken entry → confirmation card with Undo (live)</a:t>
            </a:r>
            <a:endParaRPr lang="en-US" sz="750" dirty="0"/>
          </a:p>
        </p:txBody>
      </p:sp>
      <p:pic>
        <p:nvPicPr>
          <p:cNvPr id="5" name="anim shot 1" descr="shot_scan.png">    </p:cNvPr>
          <p:cNvPicPr>
            <a:picLocks noChangeAspect="1"/>
          </p:cNvPicPr>
          <p:nvPr/>
        </p:nvPicPr>
        <p:blipFill>
          <a:blip r:embed="rId2"/>
          <a:srcRect l="0" r="0" t="0" b="0"/>
          <a:stretch/>
        </p:blipFill>
        <p:spPr>
          <a:xfrm>
            <a:off x="2606040" y="1188720"/>
            <a:ext cx="1572768" cy="3200400"/>
          </a:xfrm>
          <a:prstGeom prst="rect">
            <a:avLst/>
          </a:prstGeom>
        </p:spPr>
      </p:pic>
      <p:sp>
        <p:nvSpPr>
          <p:cNvPr id="6" name="Text 2"/>
          <p:cNvSpPr txBox="1"/>
          <p:nvPr/>
        </p:nvSpPr>
        <p:spPr>
          <a:xfrm>
            <a:off x="242316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Shelf photo → counts, low-stock badge, stock updated with Undo</a:t>
            </a:r>
            <a:endParaRPr lang="en-US" sz="750" dirty="0"/>
          </a:p>
        </p:txBody>
      </p:sp>
      <p:pic>
        <p:nvPicPr>
          <p:cNvPr id="7" name="anim shot 2" descr="shot_forecast.jpg">    </p:cNvPr>
          <p:cNvPicPr>
            <a:picLocks noChangeAspect="1"/>
          </p:cNvPicPr>
          <p:nvPr/>
        </p:nvPicPr>
        <p:blipFill>
          <a:blip r:embed="rId3"/>
          <a:srcRect l="0" r="0" t="0" b="0"/>
          <a:stretch/>
        </p:blipFill>
        <p:spPr>
          <a:xfrm>
            <a:off x="4709160" y="1188720"/>
            <a:ext cx="1572768" cy="3200400"/>
          </a:xfrm>
          <a:prstGeom prst="rect">
            <a:avLst/>
          </a:prstGeom>
        </p:spPr>
      </p:pic>
      <p:sp>
        <p:nvSpPr>
          <p:cNvPr id="8" name="Text 3"/>
          <p:cNvSpPr txBox="1"/>
          <p:nvPr/>
        </p:nvSpPr>
        <p:spPr>
          <a:xfrm>
            <a:off x="452628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4-week forecast with festival markers, reorder in one tap</a:t>
            </a:r>
            <a:endParaRPr lang="en-US" sz="750" dirty="0"/>
          </a:p>
        </p:txBody>
      </p:sp>
      <p:pic>
        <p:nvPicPr>
          <p:cNvPr id="9" name="anim shot 3" descr="shot_phone.png">    </p:cNvPr>
          <p:cNvPicPr>
            <a:picLocks noChangeAspect="1"/>
          </p:cNvPicPr>
          <p:nvPr/>
        </p:nvPicPr>
        <p:blipFill>
          <a:blip r:embed="rId4"/>
          <a:srcRect l="0" r="0" t="0" b="0"/>
          <a:stretch/>
        </p:blipFill>
        <p:spPr>
          <a:xfrm>
            <a:off x="6812280" y="1188720"/>
            <a:ext cx="1572768" cy="3200400"/>
          </a:xfrm>
          <a:prstGeom prst="rect">
            <a:avLst/>
          </a:prstGeom>
        </p:spPr>
      </p:pic>
      <p:sp>
        <p:nvSpPr>
          <p:cNvPr id="10" name="Text 4"/>
          <p:cNvSpPr txBox="1"/>
          <p:nvPr/>
        </p:nvSpPr>
        <p:spPr>
          <a:xfrm>
            <a:off x="662940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The same app on a ₹10k Android phone (OnePlus, Android 11)</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196596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Godown plugin</a:t>
            </a:r>
            <a:endParaRPr lang="en-US" sz="1050" dirty="0"/>
          </a:p>
        </p:txBody>
      </p:sp>
      <p:sp>
        <p:nvSpPr>
          <p:cNvPr id="6" name="anim Godown plugin text"/>
          <p:cNvSpPr txBox="1"/>
          <p:nvPr/>
        </p:nvSpPr>
        <p:spPr>
          <a:xfrm>
            <a:off x="57607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Warehouse stock alongside the shelf: shelf check → godown double-check → then prompt the kirana to place the order with the distributor.</a:t>
            </a:r>
            <a:endParaRPr lang="en-US" sz="850" dirty="0"/>
          </a:p>
        </p:txBody>
      </p:sp>
      <p:sp>
        <p:nvSpPr>
          <p:cNvPr id="7" name="Shape 4"/>
          <p:cNvSpPr/>
          <p:nvPr/>
        </p:nvSpPr>
        <p:spPr>
          <a:xfrm>
            <a:off x="2514600" y="1188720"/>
            <a:ext cx="196596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2679192" y="1344168"/>
            <a:ext cx="237744" cy="237744"/>
          </a:xfrm>
          <a:prstGeom prst="rect">
            <a:avLst/>
          </a:prstGeom>
        </p:spPr>
      </p:pic>
      <p:sp>
        <p:nvSpPr>
          <p:cNvPr id="9" name="anim Offline image model"/>
          <p:cNvSpPr txBox="1"/>
          <p:nvPr/>
        </p:nvSpPr>
        <p:spPr>
          <a:xfrm>
            <a:off x="267919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Offline image model</a:t>
            </a:r>
            <a:endParaRPr lang="en-US" sz="1050" dirty="0"/>
          </a:p>
        </p:txBody>
      </p:sp>
      <p:sp>
        <p:nvSpPr>
          <p:cNvPr id="10" name="anim Offline image model text"/>
          <p:cNvSpPr txBox="1"/>
          <p:nvPr/>
        </p:nvSpPr>
        <p:spPr>
          <a:xfrm>
            <a:off x="267919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On-device shelf recognition (Gemini Nano or a TFLite model) so counts work without network and Gemini cost drops for the most frequent call.</a:t>
            </a:r>
            <a:endParaRPr lang="en-US" sz="850" dirty="0"/>
          </a:p>
        </p:txBody>
      </p:sp>
      <p:sp>
        <p:nvSpPr>
          <p:cNvPr id="11" name="Shape 7"/>
          <p:cNvSpPr/>
          <p:nvPr/>
        </p:nvSpPr>
        <p:spPr>
          <a:xfrm>
            <a:off x="4617720" y="1188720"/>
            <a:ext cx="1965960" cy="1463040"/>
          </a:xfrm>
          <a:prstGeom prst="roundRect">
            <a:avLst>
              <a:gd name="adj" fmla="val 5000"/>
            </a:avLst>
          </a:prstGeom>
          <a:solidFill>
            <a:srgbClr val="FBF2E6"/>
          </a:solidFill>
          <a:ln w="12700">
            <a:solidFill>
              <a:srgbClr val="FBF2E6"/>
            </a:solidFill>
            <a:prstDash val="solid"/>
          </a:ln>
        </p:spPr>
      </p:sp>
      <p:pic>
        <p:nvPicPr>
          <p:cNvPr id="12" name="anim Production gaps to close icon" descr="preencoded.png">    </p:cNvPr>
          <p:cNvPicPr>
            <a:picLocks noChangeAspect="1"/>
          </p:cNvPicPr>
          <p:nvPr/>
        </p:nvPicPr>
        <p:blipFill>
          <a:blip r:embed="rId3"/>
          <a:stretch>
            <a:fillRect/>
          </a:stretch>
        </p:blipFill>
        <p:spPr>
          <a:xfrm>
            <a:off x="4782312" y="1344168"/>
            <a:ext cx="237744" cy="237744"/>
          </a:xfrm>
          <a:prstGeom prst="rect">
            <a:avLst/>
          </a:prstGeom>
        </p:spPr>
      </p:pic>
      <p:sp>
        <p:nvSpPr>
          <p:cNvPr id="13" name="anim Production gaps to close"/>
          <p:cNvSpPr txBox="1"/>
          <p:nvPr/>
        </p:nvSpPr>
        <p:spPr>
          <a:xfrm>
            <a:off x="478231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Production gaps to close</a:t>
            </a:r>
            <a:endParaRPr lang="en-US" sz="1050" dirty="0"/>
          </a:p>
        </p:txBody>
      </p:sp>
      <p:sp>
        <p:nvSpPr>
          <p:cNvPr id="14" name="anim Production gaps to close text"/>
          <p:cNvSpPr txBox="1"/>
          <p:nvPr/>
        </p:nvSpPr>
        <p:spPr>
          <a:xfrm>
            <a:off x="478231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Sign-in (Firebase Auth) · real pilot sales and shelves · monitoring, rate limits, Gemini cost caps · Firestore rules and backups.</a:t>
            </a:r>
            <a:endParaRPr lang="en-US" sz="850" dirty="0"/>
          </a:p>
        </p:txBody>
      </p:sp>
      <p:sp>
        <p:nvSpPr>
          <p:cNvPr id="15" name="Shape 10"/>
          <p:cNvSpPr/>
          <p:nvPr/>
        </p:nvSpPr>
        <p:spPr>
          <a:xfrm>
            <a:off x="6720840" y="1188720"/>
            <a:ext cx="1965960" cy="1463040"/>
          </a:xfrm>
          <a:prstGeom prst="roundRect">
            <a:avLst>
              <a:gd name="adj" fmla="val 5000"/>
            </a:avLst>
          </a:prstGeom>
          <a:solidFill>
            <a:srgbClr val="FBF2E6"/>
          </a:solidFill>
          <a:ln w="12700">
            <a:solidFill>
              <a:srgbClr val="FBF2E6"/>
            </a:solidFill>
            <a:prstDash val="solid"/>
          </a:ln>
        </p:spPr>
      </p:sp>
      <p:pic>
        <p:nvPicPr>
          <p:cNvPr id="16" name="anim 22 languages in the app icon" descr="preencoded.png">    </p:cNvPr>
          <p:cNvPicPr>
            <a:picLocks noChangeAspect="1"/>
          </p:cNvPicPr>
          <p:nvPr/>
        </p:nvPicPr>
        <p:blipFill>
          <a:blip r:embed="rId4"/>
          <a:stretch>
            <a:fillRect/>
          </a:stretch>
        </p:blipFill>
        <p:spPr>
          <a:xfrm>
            <a:off x="6885432" y="1344168"/>
            <a:ext cx="237744" cy="237744"/>
          </a:xfrm>
          <a:prstGeom prst="rect">
            <a:avLst/>
          </a:prstGeom>
        </p:spPr>
      </p:pic>
      <p:sp>
        <p:nvSpPr>
          <p:cNvPr id="17" name="anim 22 languages in the app"/>
          <p:cNvSpPr txBox="1"/>
          <p:nvPr/>
        </p:nvSpPr>
        <p:spPr>
          <a:xfrm>
            <a:off x="688543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22 languages in the app</a:t>
            </a:r>
            <a:endParaRPr lang="en-US" sz="1050" dirty="0"/>
          </a:p>
        </p:txBody>
      </p:sp>
      <p:sp>
        <p:nvSpPr>
          <p:cNvPr id="18" name="anim 22 languages in the app text"/>
          <p:cNvSpPr txBox="1"/>
          <p:nvPr/>
        </p:nvSpPr>
        <p:spPr>
          <a:xfrm>
            <a:off x="688543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Backend replies in all 22 today; UI strings ship after native-speaker review, largest eight first.</a:t>
            </a:r>
            <a:endParaRPr lang="en-US" sz="850" dirty="0"/>
          </a:p>
        </p:txBody>
      </p:sp>
      <p:sp>
        <p:nvSpPr>
          <p:cNvPr id="19" name="Shape 13"/>
          <p:cNvSpPr/>
          <p:nvPr/>
        </p:nvSpPr>
        <p:spPr>
          <a:xfrm>
            <a:off x="411480" y="2761488"/>
            <a:ext cx="196596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576072" y="2916936"/>
            <a:ext cx="237744" cy="237744"/>
          </a:xfrm>
          <a:prstGeom prst="rect">
            <a:avLst/>
          </a:prstGeom>
        </p:spPr>
      </p:pic>
      <p:sp>
        <p:nvSpPr>
          <p:cNvPr id="21" name="anim Udhaar ledger &amp;amp; credit"/>
          <p:cNvSpPr txBox="1"/>
          <p:nvPr/>
        </p:nvSpPr>
        <p:spPr>
          <a:xfrm>
            <a:off x="57607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Udhaar ledger &amp; credit</a:t>
            </a:r>
            <a:endParaRPr lang="en-US" sz="1050" dirty="0"/>
          </a:p>
        </p:txBody>
      </p:sp>
      <p:sp>
        <p:nvSpPr>
          <p:cNvPr id="22" name="anim Udhaar ledger &amp;amp; credit text"/>
          <p:cNvSpPr txBox="1"/>
          <p:nvPr/>
        </p:nvSpPr>
        <p:spPr>
          <a:xfrm>
            <a:off x="57607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Voice-logged credit and reminders; clean sales history can help shops qualify for working-capital loans.</a:t>
            </a:r>
            <a:endParaRPr lang="en-US" sz="850" dirty="0"/>
          </a:p>
        </p:txBody>
      </p:sp>
      <p:sp>
        <p:nvSpPr>
          <p:cNvPr id="23" name="Shape 16"/>
          <p:cNvSpPr/>
          <p:nvPr/>
        </p:nvSpPr>
        <p:spPr>
          <a:xfrm>
            <a:off x="2514600" y="2761488"/>
            <a:ext cx="1965960" cy="1463040"/>
          </a:xfrm>
          <a:prstGeom prst="roundRect">
            <a:avLst>
              <a:gd name="adj" fmla="val 5000"/>
            </a:avLst>
          </a:prstGeom>
          <a:solidFill>
            <a:srgbClr val="F3EFEA"/>
          </a:solidFill>
          <a:ln w="12700">
            <a:solidFill>
              <a:srgbClr val="F3EFEA"/>
            </a:solidFill>
            <a:prstDash val="solid"/>
          </a:ln>
        </p:spPr>
      </p:sp>
      <p:pic>
        <p:nvPicPr>
          <p:cNvPr id="24" name="anim Supply &amp; WhatsApp icon" descr="preencoded.png">    </p:cNvPr>
          <p:cNvPicPr>
            <a:picLocks noChangeAspect="1"/>
          </p:cNvPicPr>
          <p:nvPr/>
        </p:nvPicPr>
        <p:blipFill>
          <a:blip r:embed="rId6"/>
          <a:stretch>
            <a:fillRect/>
          </a:stretch>
        </p:blipFill>
        <p:spPr>
          <a:xfrm>
            <a:off x="2679192" y="2916936"/>
            <a:ext cx="237744" cy="237744"/>
          </a:xfrm>
          <a:prstGeom prst="rect">
            <a:avLst/>
          </a:prstGeom>
        </p:spPr>
      </p:pic>
      <p:sp>
        <p:nvSpPr>
          <p:cNvPr id="25" name="anim Supply &amp;amp; WhatsApp"/>
          <p:cNvSpPr txBox="1"/>
          <p:nvPr/>
        </p:nvSpPr>
        <p:spPr>
          <a:xfrm>
            <a:off x="267919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Supply &amp; WhatsApp</a:t>
            </a:r>
            <a:endParaRPr lang="en-US" sz="1050" dirty="0"/>
          </a:p>
        </p:txBody>
      </p:sp>
      <p:sp>
        <p:nvSpPr>
          <p:cNvPr id="26" name="anim Supply &amp;amp; WhatsApp text"/>
          <p:cNvSpPr txBox="1"/>
          <p:nvPr/>
        </p:nvSpPr>
        <p:spPr>
          <a:xfrm>
            <a:off x="267919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Distributor lead times and stock-outs in the forecast; WhatsApp-first entry so shopkeepers never install anything.</a:t>
            </a:r>
            <a:endParaRPr lang="en-US" sz="850" dirty="0"/>
          </a:p>
        </p:txBody>
      </p:sp>
      <p:sp>
        <p:nvSpPr>
          <p:cNvPr id="27" name="Shape 19"/>
          <p:cNvSpPr/>
          <p:nvPr/>
        </p:nvSpPr>
        <p:spPr>
          <a:xfrm>
            <a:off x="4617720" y="2761488"/>
            <a:ext cx="1965960" cy="1463040"/>
          </a:xfrm>
          <a:prstGeom prst="roundRect">
            <a:avLst>
              <a:gd name="adj" fmla="val 5000"/>
            </a:avLst>
          </a:prstGeom>
          <a:solidFill>
            <a:srgbClr val="F3EFEA"/>
          </a:solidFill>
          <a:ln w="12700">
            <a:solidFill>
              <a:srgbClr val="F3EFEA"/>
            </a:solidFill>
            <a:prstDash val="solid"/>
          </a:ln>
        </p:spPr>
      </p:sp>
      <p:pic>
        <p:nvPicPr>
          <p:cNvPr id="28" name="anim Plugin for native apps icon" descr="preencoded.png">    </p:cNvPr>
          <p:cNvPicPr>
            <a:picLocks noChangeAspect="1"/>
          </p:cNvPicPr>
          <p:nvPr/>
        </p:nvPicPr>
        <p:blipFill>
          <a:blip r:embed="rId7"/>
          <a:stretch>
            <a:fillRect/>
          </a:stretch>
        </p:blipFill>
        <p:spPr>
          <a:xfrm>
            <a:off x="4782312" y="2916936"/>
            <a:ext cx="237744" cy="237744"/>
          </a:xfrm>
          <a:prstGeom prst="rect">
            <a:avLst/>
          </a:prstGeom>
        </p:spPr>
      </p:pic>
      <p:sp>
        <p:nvSpPr>
          <p:cNvPr id="29" name="anim Plugin for native apps"/>
          <p:cNvSpPr txBox="1"/>
          <p:nvPr/>
        </p:nvSpPr>
        <p:spPr>
          <a:xfrm>
            <a:off x="478231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Plugin for native apps</a:t>
            </a:r>
            <a:endParaRPr lang="en-US" sz="1050" dirty="0"/>
          </a:p>
        </p:txBody>
      </p:sp>
      <p:sp>
        <p:nvSpPr>
          <p:cNvPr id="30" name="anim Plugin for native apps text"/>
          <p:cNvSpPr txBox="1"/>
          <p:nvPr/>
        </p:nvSpPr>
        <p:spPr>
          <a:xfrm>
            <a:off x="478231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An SDK and share-sheet plugin so existing kirana billing, POS and distributor apps on Android can embed voice entry, shelf scan and forecasts.</a:t>
            </a:r>
            <a:endParaRPr lang="en-US" sz="850" dirty="0"/>
          </a:p>
        </p:txBody>
      </p:sp>
      <p:sp>
        <p:nvSpPr>
          <p:cNvPr id="31" name="Text 22"/>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stCondLst>
                      <p:childTnLst>
                        <p:par>
                          <p:cTn id="6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450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par>
                                <p:cTn id="60" presetID="10" presetClass="entr" presetSubtype="0" fill="hold" grpId="0" nodeType="withEffect">
                                  <p:stCondLst>
                                    <p:cond delay="475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00"/>
                                        <p:tgtEl>
                                          <p:spTgt spid="29"/>
                                        </p:tgtEl>
                                      </p:cBhvr>
                                    </p:animEffect>
                                  </p:childTnLst>
                                </p:cTn>
                              </p:par>
                              <p:par>
                                <p:cTn id="63" presetID="10" presetClass="entr" presetSubtype="0" fill="hold" grpId="0" nodeType="withEffect">
                                  <p:stCondLst>
                                    <p:cond delay="500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2026-10-18T18:10:02Z</dcterms:created>
  <dcterms:modified xsi:type="dcterms:W3CDTF">2026-10-18T18:10:02Z</dcterms:modified>
</cp:coreProperties>
</file>
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product line: Kirana Copilot is a voice-first AI mentor for India's 13 million corner shops. Team singapuria_innovators, Retail &amp; Commerce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Ramesh and his first pain point. The three numbers: 13M stores is the total addressable market, 91% of grocery still goes through kiranas, and about 6M of them already own a smartphone and order from a distributor, which is who we serve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judging lenses in one slide: scalability (serverless), impact (the two biggest leaks in a kirana are lost sales and dead stock), ease of use (two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Udhaar (credit ledger) is intentionally not in the MVP feature list; it is on the roadmap. The MVP is inventory: see, speak, forecast, restock.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quoted reply is a real string from the prototype's evals: the shelf check, the carton-to-packet conversion and the Diwali reorder nudge.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frames match the three moments of the day on the previous slide. The strings are copied from live replies, not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live today versus roadmap is marked on the slide. Everything in cream is running in project kirana-mitra-app on asia-south1.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prompting practices we used: few-shot in three languages, a strict response schema, the catalogue in context instead of a vector store, low thinking for latency, and a confidence threshold that turns uncertain extractions into a confirm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line that moves with scale is Gemini; everything else is free tier or paise at pilot volume. The roadmap's offline image model is also the biggest cost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Hinglish entry answered by Gemini in 3.3 s on the public web link. Middle: forecast from BigQuery ML with the Diwali bump. Right: the Android build on a budget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the data is synthetic and the photo latency target was missed. The numbers come from the repo's results files and can be rerun with one command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is the mentor's production roadmap: godown, offline model, end-to-end readiness and cost reduction. The bottom row is what we deliberately left out of the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repository public before submitting; it is private at the time of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1A1A1A"/>
          </a:solidFill>
          <a:ln/>
        </p:spPr>
      </p:sp>
      <p:sp>
        <p:nvSpPr>
          <p:cNvPr id="3" name="Text 1"/>
          <p:cNvSpPr/>
          <p:nvPr/>
        </p:nvSpPr>
        <p:spPr>
          <a:xfrm>
            <a:off x="320040" y="0"/>
            <a:ext cx="1828800" cy="384048"/>
          </a:xfrm>
          <a:prstGeom prst="rect">
            <a:avLst/>
          </a:prstGeom>
          <a:noFill/>
          <a:ln/>
        </p:spPr>
        <p:txBody>
          <a:bodyPr wrap="square" lIns="0" tIns="0" rIns="0" bIns="0" rtlCol="0" anchor="ctr"/>
          <a:lstStyle/>
          <a:p>
            <a:pPr indent="0" marL="0">
              <a:buNone/>
            </a:pPr>
            <a:r>
              <a:rPr lang="en-US" sz="900" b="1" dirty="0">
                <a:solidFill>
                  <a:srgbClr val="FFFFFF"/>
                </a:solidFill>
              </a:rPr>
              <a:t>Google Cloud</a:t>
            </a:r>
            <a:endParaRPr lang="en-US" sz="900" dirty="0"/>
          </a:p>
        </p:txBody>
      </p:sp>
      <p:sp>
        <p:nvSpPr>
          <p:cNvPr id="4" name="Text 2"/>
          <p:cNvSpPr/>
          <p:nvPr/>
        </p:nvSpPr>
        <p:spPr>
          <a:xfrm>
            <a:off x="2743200" y="0"/>
            <a:ext cx="3657600" cy="384048"/>
          </a:xfrm>
          <a:prstGeom prst="rect">
            <a:avLst/>
          </a:prstGeom>
          <a:noFill/>
          <a:ln/>
        </p:spPr>
        <p:txBody>
          <a:bodyPr wrap="square" lIns="0" tIns="0" rIns="0" bIns="0" rtlCol="0" anchor="ctr"/>
          <a:lstStyle/>
          <a:p>
            <a:pPr algn="ctr" indent="0" marL="0">
              <a:buNone/>
            </a:pPr>
            <a:r>
              <a:rPr lang="en-US" sz="900" b="1" dirty="0">
                <a:solidFill>
                  <a:srgbClr val="FFFFFF"/>
                </a:solidFill>
              </a:rPr>
              <a:t>AI Builder Cup</a:t>
            </a:r>
            <a:endParaRPr lang="en-US" sz="900" dirty="0"/>
          </a:p>
        </p:txBody>
      </p:sp>
      <p:sp>
        <p:nvSpPr>
          <p:cNvPr id="5" name="Text 3"/>
          <p:cNvSpPr/>
          <p:nvPr/>
        </p:nvSpPr>
        <p:spPr>
          <a:xfrm>
            <a:off x="7909560" y="0"/>
            <a:ext cx="914400" cy="384048"/>
          </a:xfrm>
          <a:prstGeom prst="rect">
            <a:avLst/>
          </a:prstGeom>
          <a:noFill/>
          <a:ln/>
        </p:spPr>
        <p:txBody>
          <a:bodyPr wrap="square" lIns="0" tIns="0" rIns="0" bIns="0" rtlCol="0" anchor="ctr"/>
          <a:lstStyle/>
          <a:p>
            <a:pPr algn="r" indent="0" marL="0">
              <a:buNone/>
            </a:pPr>
            <a:r>
              <a:rPr lang="en-US" sz="900" b="1" dirty="0">
                <a:solidFill>
                  <a:srgbClr val="FFFFFF"/>
                </a:solidFill>
              </a:rPr>
              <a:t>H2S</a:t>
            </a:r>
            <a:endParaRPr lang="en-US" sz="900" dirty="0"/>
          </a:p>
        </p:txBody>
      </p:sp>
      <p:sp>
        <p:nvSpPr>
          <p:cNvPr id="6" name="Text 4"/>
          <p:cNvSpPr/>
          <p:nvPr/>
        </p:nvSpPr>
        <p:spPr>
          <a:xfrm>
            <a:off x="411480" y="4773168"/>
            <a:ext cx="5486400" cy="274320"/>
          </a:xfrm>
          <a:prstGeom prst="rect">
            <a:avLst/>
          </a:prstGeom>
          <a:noFill/>
          <a:ln/>
        </p:spPr>
        <p:txBody>
          <a:bodyPr wrap="square" lIns="0" tIns="0" rIns="0" bIns="0" rtlCol="0" anchor="ctr"/>
          <a:lstStyle/>
          <a:p>
            <a:pPr indent="0" marL="0">
              <a:buNone/>
            </a:pPr>
            <a:r>
              <a:rPr lang="en-US" sz="800" dirty="0">
                <a:solidFill>
                  <a:srgbClr val="5F5F5F"/>
                </a:solidFill>
              </a:rPr>
              <a:t>Kirana Copilot · singapuria_innovators</a:t>
            </a:r>
            <a:endParaRPr lang="en-US" sz="800" dirty="0"/>
          </a:p>
        </p:txBody>
      </p:sp>
      <p:sp>
        <p:nvSpPr>
          <p:cNvPr id="7" name="Text 5"/>
          <p:cNvSpPr/>
          <p:nvPr>
            <p:ph idx="105" type="title" hasCustomPrompt="1"/>
          </p:nvPr>
        </p:nvSpPr>
        <p:spPr>
          <a:xfrm>
            <a:off x="411480" y="548640"/>
            <a:ext cx="8321040" cy="548640"/>
          </a:xfrm>
          <a:prstGeom prst="rect">
            <a:avLst/>
          </a:prstGeom>
          <a:noFill/>
          <a:ln/>
        </p:spPr>
        <p:txBody>
          <a:bodyPr wrap="square" rtlCol="0"/>
          <a:lstStyle>
            <a:lvl1pPr algn="l" indent="0" marL="0">
              <a:buNone/>
              <a:defRPr lang="en-US" sz="2600" b="1" dirty="0">
                <a:solidFill>
                  <a:srgbClr val="1A1A1A"/>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A1A1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606040"/>
            <a:ext cx="9144000" cy="2537460"/>
          </a:xfrm>
          <a:prstGeom prst="rect">
            <a:avLst/>
          </a:prstGeom>
          <a:solidFill>
            <a:srgbClr val="FFFFFF"/>
          </a:solidFill>
          <a:ln w="12700">
            <a:solidFill>
              <a:srgbClr val="FFFFFF"/>
            </a:solidFill>
            <a:prstDash val="solid"/>
          </a:ln>
        </p:spPr>
      </p:sp>
      <p:sp>
        <p:nvSpPr>
          <p:cNvPr id="3" name="Text 1"/>
          <p:cNvSpPr txBox="1"/>
          <p:nvPr/>
        </p:nvSpPr>
        <p:spPr>
          <a:xfrm>
            <a:off x="594360" y="457200"/>
            <a:ext cx="5486400" cy="274320"/>
          </a:xfrm>
          <a:prstGeom prst="rect">
            <a:avLst/>
          </a:prstGeom>
          <a:noFill/>
          <a:ln/>
        </p:spPr>
        <p:txBody>
          <a:bodyPr wrap="square" lIns="0" tIns="0" rIns="0" bIns="0" rtlCol="0" anchor="t"/>
          <a:lstStyle/>
          <a:p>
            <a:pPr indent="0" marL="0">
              <a:buNone/>
            </a:pPr>
            <a:r>
              <a:rPr lang="en-US" sz="1000" dirty="0">
                <a:solidFill>
                  <a:srgbClr val="CFCFCF"/>
                </a:solidFill>
              </a:rPr>
              <a:t>Google Cloud · H2S</a:t>
            </a:r>
            <a:endParaRPr lang="en-US" sz="1000" dirty="0"/>
          </a:p>
        </p:txBody>
      </p:sp>
      <p:sp>
        <p:nvSpPr>
          <p:cNvPr id="4" name="Text 2"/>
          <p:cNvSpPr txBox="1"/>
          <p:nvPr/>
        </p:nvSpPr>
        <p:spPr>
          <a:xfrm>
            <a:off x="594360" y="731520"/>
            <a:ext cx="7315200" cy="731520"/>
          </a:xfrm>
          <a:prstGeom prst="rect">
            <a:avLst/>
          </a:prstGeom>
          <a:noFill/>
          <a:ln/>
        </p:spPr>
        <p:txBody>
          <a:bodyPr wrap="square" lIns="0" tIns="0" rIns="0" bIns="0" rtlCol="0" anchor="t"/>
          <a:lstStyle/>
          <a:p>
            <a:pPr indent="0" marL="0">
              <a:buNone/>
            </a:pPr>
            <a:r>
              <a:rPr lang="en-US" sz="4000" b="1" dirty="0">
                <a:solidFill>
                  <a:srgbClr val="FFFFFF"/>
                </a:solidFill>
              </a:rPr>
              <a:t>AI Builder Cup</a:t>
            </a:r>
            <a:endParaRPr lang="en-US" sz="4000" dirty="0"/>
          </a:p>
        </p:txBody>
      </p:sp>
      <p:sp>
        <p:nvSpPr>
          <p:cNvPr id="5" name="Text 3"/>
          <p:cNvSpPr txBox="1"/>
          <p:nvPr/>
        </p:nvSpPr>
        <p:spPr>
          <a:xfrm>
            <a:off x="594360" y="1481328"/>
            <a:ext cx="7315200" cy="274320"/>
          </a:xfrm>
          <a:prstGeom prst="rect">
            <a:avLst/>
          </a:prstGeom>
          <a:noFill/>
          <a:ln/>
        </p:spPr>
        <p:txBody>
          <a:bodyPr wrap="square" lIns="0" tIns="0" rIns="0" bIns="0" rtlCol="0" anchor="t"/>
          <a:lstStyle/>
          <a:p>
            <a:pPr indent="0" marL="0">
              <a:buNone/>
            </a:pPr>
            <a:r>
              <a:rPr lang="en-US" sz="1100" dirty="0">
                <a:solidFill>
                  <a:srgbClr val="E6E6E6"/>
                </a:solidFill>
              </a:rPr>
              <a:t>Build in JAPAC. Build for the world.</a:t>
            </a:r>
            <a:endParaRPr lang="en-US" sz="1100" dirty="0"/>
          </a:p>
        </p:txBody>
      </p:sp>
      <p:sp>
        <p:nvSpPr>
          <p:cNvPr id="6" name="anim product line"/>
          <p:cNvSpPr txBox="1"/>
          <p:nvPr/>
        </p:nvSpPr>
        <p:spPr>
          <a:xfrm>
            <a:off x="594360" y="1920240"/>
            <a:ext cx="7955280" cy="411480"/>
          </a:xfrm>
          <a:prstGeom prst="rect">
            <a:avLst/>
          </a:prstGeom>
          <a:noFill/>
          <a:ln/>
        </p:spPr>
        <p:txBody>
          <a:bodyPr wrap="square" lIns="0" tIns="0" rIns="0" bIns="0" rtlCol="0" anchor="t"/>
          <a:lstStyle/>
          <a:p>
            <a:pPr indent="0" marL="0">
              <a:buNone/>
            </a:pPr>
            <a:r>
              <a:rPr lang="en-US" sz="1700" b="1" dirty="0">
                <a:solidFill>
                  <a:srgbClr val="E8742B"/>
                </a:solidFill>
              </a:rPr>
              <a:t>Kirana Copilot — a voice-first AI mentor for India’s corner shops</a:t>
            </a:r>
            <a:endParaRPr lang="en-US" sz="1700" dirty="0"/>
          </a:p>
        </p:txBody>
      </p:sp>
      <p:sp>
        <p:nvSpPr>
          <p:cNvPr id="7" name="Text 5"/>
          <p:cNvSpPr txBox="1"/>
          <p:nvPr/>
        </p:nvSpPr>
        <p:spPr>
          <a:xfrm>
            <a:off x="594360" y="2880360"/>
            <a:ext cx="4572000" cy="365760"/>
          </a:xfrm>
          <a:prstGeom prst="rect">
            <a:avLst/>
          </a:prstGeom>
          <a:noFill/>
          <a:ln/>
        </p:spPr>
        <p:txBody>
          <a:bodyPr wrap="square" lIns="0" tIns="0" rIns="0" bIns="0" rtlCol="0" anchor="t"/>
          <a:lstStyle/>
          <a:p>
            <a:pPr indent="0" marL="0">
              <a:buNone/>
            </a:pPr>
            <a:r>
              <a:rPr lang="en-US" sz="1800" b="1" dirty="0">
                <a:solidFill>
                  <a:srgbClr val="1A1A1A"/>
                </a:solidFill>
              </a:rPr>
              <a:t>Team Details</a:t>
            </a:r>
            <a:endParaRPr lang="en-US" sz="1800" dirty="0"/>
          </a:p>
        </p:txBody>
      </p:sp>
      <p:sp>
        <p:nvSpPr>
          <p:cNvPr id="8" name="anim team details"/>
          <p:cNvSpPr txBox="1"/>
          <p:nvPr/>
        </p:nvSpPr>
        <p:spPr>
          <a:xfrm>
            <a:off x="822960" y="3337560"/>
            <a:ext cx="7772400" cy="1005840"/>
          </a:xfrm>
          <a:prstGeom prst="rect">
            <a:avLst/>
          </a:prstGeom>
          <a:noFill/>
          <a:ln/>
        </p:spPr>
        <p:txBody>
          <a:bodyPr wrap="square" lIns="0" tIns="0" rIns="0" bIns="0" rtlCol="0" anchor="t"/>
          <a:lstStyle/>
          <a:p>
            <a:pPr indent="0" marL="0">
              <a:spcAft>
                <a:spcPts val="400"/>
              </a:spcAft>
              <a:buNone/>
            </a:pPr>
            <a:r>
              <a:rPr lang="en-US" sz="1100" dirty="0">
                <a:solidFill>
                  <a:srgbClr val="1A1A1A"/>
                </a:solidFill>
              </a:rPr>
              <a:t>a. Team name: </a:t>
            </a:r>
            <a:pPr indent="0" marL="0">
              <a:spcAft>
                <a:spcPts val="400"/>
              </a:spcAft>
              <a:buNone/>
            </a:pPr>
            <a:r>
              <a:rPr lang="en-US" sz="1100" b="1" dirty="0">
                <a:solidFill>
                  <a:srgbClr val="1A1A1A"/>
                </a:solidFill>
              </a:rPr>
              <a:t>singapuria_innovators</a:t>
            </a:r>
            <a:endParaRPr lang="en-US" sz="1100" dirty="0"/>
          </a:p>
          <a:p>
            <a:pPr indent="0" marL="0">
              <a:spcAft>
                <a:spcPts val="400"/>
              </a:spcAft>
              <a:buNone/>
            </a:pPr>
            <a:r>
              <a:rPr lang="en-US" sz="1100" dirty="0">
                <a:solidFill>
                  <a:srgbClr val="1A1A1A"/>
                </a:solidFill>
              </a:rPr>
              <a:t>b. Team leader name: </a:t>
            </a:r>
            <a:pPr indent="0" marL="0">
              <a:spcAft>
                <a:spcPts val="400"/>
              </a:spcAft>
              <a:buNone/>
            </a:pPr>
            <a:r>
              <a:rPr lang="en-US" sz="1100" b="1" dirty="0">
                <a:solidFill>
                  <a:srgbClr val="1A1A1A"/>
                </a:solidFill>
              </a:rPr>
              <a:t>Vandana Soni</a:t>
            </a:r>
            <a:endParaRPr lang="en-US" sz="1100" dirty="0"/>
          </a:p>
          <a:p>
            <a:pPr indent="0" marL="0">
              <a:spcAft>
                <a:spcPts val="400"/>
              </a:spcAft>
              <a:buNone/>
            </a:pPr>
            <a:r>
              <a:rPr lang="en-US" sz="1100" dirty="0">
                <a:solidFill>
                  <a:srgbClr val="1A1A1A"/>
                </a:solidFill>
              </a:rPr>
              <a:t>c. Problem Statement: </a:t>
            </a:r>
            <a:pPr indent="0" marL="0">
              <a:spcAft>
                <a:spcPts val="400"/>
              </a:spcAft>
              <a:buNone/>
            </a:pPr>
            <a:r>
              <a:rPr lang="en-US" sz="1100" b="1" dirty="0">
                <a:solidFill>
                  <a:srgbClr val="1A1A1A"/>
                </a:solidFill>
              </a:rPr>
              <a:t>Retail &amp; Commerce — Intelligent Customer and Business Experiences</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Brief about the idea</a:t>
            </a:r>
            <a:endParaRPr lang="en-US" sz="2600" dirty="0"/>
          </a:p>
        </p:txBody>
      </p:sp>
      <p:sp>
        <p:nvSpPr>
          <p:cNvPr id="3" name="Shape 1"/>
          <p:cNvSpPr/>
          <p:nvPr/>
        </p:nvSpPr>
        <p:spPr>
          <a:xfrm>
            <a:off x="411480" y="1188720"/>
            <a:ext cx="5074920" cy="1325880"/>
          </a:xfrm>
          <a:prstGeom prst="roundRect">
            <a:avLst>
              <a:gd name="adj" fmla="val 5517"/>
            </a:avLst>
          </a:prstGeom>
          <a:solidFill>
            <a:srgbClr val="FBF2E6"/>
          </a:solidFill>
          <a:ln w="12700">
            <a:solidFill>
              <a:srgbClr val="FBF2E6"/>
            </a:solidFill>
            <a:prstDash val="solid"/>
          </a:ln>
        </p:spPr>
      </p:sp>
      <p:pic>
        <p:nvPicPr>
          <p:cNvPr id="4" name="persona icon" descr="preencoded.png">    </p:cNvPr>
          <p:cNvPicPr>
            <a:picLocks noChangeAspect="1"/>
          </p:cNvPicPr>
          <p:nvPr/>
        </p:nvPicPr>
        <p:blipFill>
          <a:blip r:embed="rId1"/>
          <a:stretch>
            <a:fillRect/>
          </a:stretch>
        </p:blipFill>
        <p:spPr>
          <a:xfrm>
            <a:off x="566928" y="1325880"/>
            <a:ext cx="274320" cy="274320"/>
          </a:xfrm>
          <a:prstGeom prst="rect">
            <a:avLst/>
          </a:prstGeom>
        </p:spPr>
      </p:pic>
      <p:sp>
        <p:nvSpPr>
          <p:cNvPr id="5" name="anim persona"/>
          <p:cNvSpPr txBox="1"/>
          <p:nvPr/>
        </p:nvSpPr>
        <p:spPr>
          <a:xfrm>
            <a:off x="932688" y="1298448"/>
            <a:ext cx="4434840" cy="457200"/>
          </a:xfrm>
          <a:prstGeom prst="rect">
            <a:avLst/>
          </a:prstGeom>
          <a:noFill/>
          <a:ln/>
        </p:spPr>
        <p:txBody>
          <a:bodyPr wrap="square" lIns="0" tIns="0" rIns="0" bIns="0" rtlCol="0" anchor="t"/>
          <a:lstStyle/>
          <a:p>
            <a:pPr indent="0" marL="0">
              <a:buNone/>
            </a:pPr>
            <a:r>
              <a:rPr lang="en-US" sz="1000" b="1" dirty="0">
                <a:solidFill>
                  <a:srgbClr val="1A1A1A"/>
                </a:solidFill>
              </a:rPr>
              <a:t>Ramesh Gupta, 44 · Gupta General Store, Indore · 200 sq ft, 14-hour days, a ₹9,000 Android phone is his only computer</a:t>
            </a:r>
            <a:endParaRPr lang="en-US" sz="1000" dirty="0"/>
          </a:p>
        </p:txBody>
      </p:sp>
      <p:sp>
        <p:nvSpPr>
          <p:cNvPr id="6" name="anim pain point"/>
          <p:cNvSpPr txBox="1"/>
          <p:nvPr/>
        </p:nvSpPr>
        <p:spPr>
          <a:xfrm>
            <a:off x="566928" y="1783080"/>
            <a:ext cx="4800600" cy="685800"/>
          </a:xfrm>
          <a:prstGeom prst="rect">
            <a:avLst/>
          </a:prstGeom>
          <a:noFill/>
          <a:ln/>
        </p:spPr>
        <p:txBody>
          <a:bodyPr wrap="square" lIns="0" tIns="0" rIns="0" bIns="0" rtlCol="0" anchor="t"/>
          <a:lstStyle/>
          <a:p>
            <a:pPr indent="0" marL="0">
              <a:buNone/>
            </a:pPr>
            <a:r>
              <a:rPr lang="en-US" sz="1000" dirty="0">
                <a:solidFill>
                  <a:srgbClr val="1A1A1A"/>
                </a:solidFill>
              </a:rPr>
              <a:t>Pain point #1: he finds out Maggi is finished when a customer asks for it. Ordering is a phone call from memory, so he over-buys slow items and runs out of fast ones. Every stock-keeping app expects him to type, usually in English.</a:t>
            </a:r>
            <a:endParaRPr lang="en-US" sz="1000" dirty="0"/>
          </a:p>
        </p:txBody>
      </p:sp>
      <p:sp>
        <p:nvSpPr>
          <p:cNvPr id="7" name="anim idea"/>
          <p:cNvSpPr txBox="1"/>
          <p:nvPr/>
        </p:nvSpPr>
        <p:spPr>
          <a:xfrm>
            <a:off x="411480" y="2651760"/>
            <a:ext cx="5074920" cy="1417320"/>
          </a:xfrm>
          <a:prstGeom prst="rect">
            <a:avLst/>
          </a:prstGeom>
          <a:noFill/>
          <a:ln/>
        </p:spPr>
        <p:txBody>
          <a:bodyPr wrap="square" lIns="0" tIns="0" rIns="0" bIns="0" rtlCol="0" anchor="t"/>
          <a:lstStyle/>
          <a:p>
            <a:pPr indent="0" marL="0">
              <a:buNone/>
            </a:pPr>
            <a:r>
              <a:rPr lang="en-US" sz="1100" b="1" dirty="0">
                <a:solidFill>
                  <a:srgbClr val="1A1A1A"/>
                </a:solidFill>
              </a:rPr>
              <a:t>Kirana Copilot </a:t>
            </a:r>
            <a:pPr indent="0" marL="0">
              <a:buNone/>
            </a:pPr>
            <a:r>
              <a:rPr lang="en-US" sz="1100" dirty="0">
                <a:solidFill>
                  <a:srgbClr val="1A1A1A"/>
                </a:solidFill>
              </a:rPr>
              <a:t>is a voice- and photo-first AI mentor for kiranas. He photographs a shelf or says what arrived, in Hindi, Hinglish or any of India’s 22 scheduled languages. Gemini turns it into stock counts, a festival-aware demand forecast and a ready order for his distributor — no typing, no English. Every evening it tells him what sold, what is running low and what to order tomorrow.</a:t>
            </a:r>
            <a:endParaRPr lang="en-US" sz="1100" dirty="0"/>
          </a:p>
        </p:txBody>
      </p:sp>
      <p:sp>
        <p:nvSpPr>
          <p:cNvPr id="8" name="anim three words"/>
          <p:cNvSpPr txBox="1"/>
          <p:nvPr/>
        </p:nvSpPr>
        <p:spPr>
          <a:xfrm>
            <a:off x="411480" y="4114800"/>
            <a:ext cx="5074920" cy="502920"/>
          </a:xfrm>
          <a:prstGeom prst="rect">
            <a:avLst/>
          </a:prstGeom>
          <a:noFill/>
          <a:ln/>
        </p:spPr>
        <p:txBody>
          <a:bodyPr wrap="square" lIns="0" tIns="0" rIns="0" bIns="0" rtlCol="0" anchor="t"/>
          <a:lstStyle/>
          <a:p>
            <a:pPr indent="0" marL="0">
              <a:buNone/>
            </a:pPr>
            <a:r>
              <a:rPr lang="en-US" sz="900" i="1" dirty="0">
                <a:solidFill>
                  <a:srgbClr val="5F5F5F"/>
                </a:solidFill>
              </a:rPr>
              <a:t>Scalable (serverless, scales to zero) · High impact (lost sales and dead stock are the two biggest leaks in a kirana) · Easy (two buttons: speak, snap)</a:t>
            </a:r>
            <a:endParaRPr lang="en-US" sz="900" dirty="0"/>
          </a:p>
        </p:txBody>
      </p:sp>
      <p:sp>
        <p:nvSpPr>
          <p:cNvPr id="9" name="Shape 6"/>
          <p:cNvSpPr/>
          <p:nvPr/>
        </p:nvSpPr>
        <p:spPr>
          <a:xfrm>
            <a:off x="5760720" y="1188720"/>
            <a:ext cx="2971800" cy="868680"/>
          </a:xfrm>
          <a:prstGeom prst="roundRect">
            <a:avLst>
              <a:gd name="adj" fmla="val 8421"/>
            </a:avLst>
          </a:prstGeom>
          <a:solidFill>
            <a:srgbClr val="F3EFEA"/>
          </a:solidFill>
          <a:ln w="12700">
            <a:solidFill>
              <a:srgbClr val="F3EFEA"/>
            </a:solidFill>
            <a:prstDash val="solid"/>
          </a:ln>
        </p:spPr>
      </p:sp>
      <p:sp>
        <p:nvSpPr>
          <p:cNvPr id="10" name="tam number"/>
          <p:cNvSpPr txBox="1"/>
          <p:nvPr/>
        </p:nvSpPr>
        <p:spPr>
          <a:xfrm>
            <a:off x="5943600" y="1298448"/>
            <a:ext cx="2606040" cy="411480"/>
          </a:xfrm>
          <a:prstGeom prst="rect">
            <a:avLst/>
          </a:prstGeom>
          <a:noFill/>
          <a:ln/>
        </p:spPr>
        <p:txBody>
          <a:bodyPr wrap="square" lIns="0" tIns="0" rIns="0" bIns="0" rtlCol="0" anchor="t"/>
          <a:lstStyle/>
          <a:p>
            <a:pPr indent="0" marL="0">
              <a:buNone/>
            </a:pPr>
            <a:r>
              <a:rPr lang="en-US" sz="2400" b="1" dirty="0">
                <a:solidFill>
                  <a:srgbClr val="E8742B"/>
                </a:solidFill>
              </a:rPr>
              <a:t>~13M</a:t>
            </a:r>
            <a:endParaRPr lang="en-US" sz="2400" dirty="0"/>
          </a:p>
        </p:txBody>
      </p:sp>
      <p:sp>
        <p:nvSpPr>
          <p:cNvPr id="11" name="tam label"/>
          <p:cNvSpPr txBox="1"/>
          <p:nvPr/>
        </p:nvSpPr>
        <p:spPr>
          <a:xfrm>
            <a:off x="5943600" y="1719072"/>
            <a:ext cx="2606040" cy="274320"/>
          </a:xfrm>
          <a:prstGeom prst="rect">
            <a:avLst/>
          </a:prstGeom>
          <a:noFill/>
          <a:ln/>
        </p:spPr>
        <p:txBody>
          <a:bodyPr wrap="square" lIns="0" tIns="0" rIns="0" bIns="0" rtlCol="0" anchor="t"/>
          <a:lstStyle/>
          <a:p>
            <a:pPr indent="0" marL="0">
              <a:buNone/>
            </a:pPr>
            <a:r>
              <a:rPr lang="en-US" sz="900" dirty="0">
                <a:solidFill>
                  <a:srgbClr val="5F5F5F"/>
                </a:solidFill>
              </a:rPr>
              <a:t>kirana stores in India — the total addressable market (Invest India)</a:t>
            </a:r>
            <a:endParaRPr lang="en-US" sz="900" dirty="0"/>
          </a:p>
        </p:txBody>
      </p:sp>
      <p:sp>
        <p:nvSpPr>
          <p:cNvPr id="12" name="Shape 9"/>
          <p:cNvSpPr/>
          <p:nvPr/>
        </p:nvSpPr>
        <p:spPr>
          <a:xfrm>
            <a:off x="5760720" y="2148840"/>
            <a:ext cx="2971800" cy="868680"/>
          </a:xfrm>
          <a:prstGeom prst="roundRect">
            <a:avLst>
              <a:gd name="adj" fmla="val 8421"/>
            </a:avLst>
          </a:prstGeom>
          <a:solidFill>
            <a:srgbClr val="F3EFEA"/>
          </a:solidFill>
          <a:ln w="12700">
            <a:solidFill>
              <a:srgbClr val="F3EFEA"/>
            </a:solidFill>
            <a:prstDash val="solid"/>
          </a:ln>
        </p:spPr>
      </p:sp>
      <p:sp>
        <p:nvSpPr>
          <p:cNvPr id="13" name="share number"/>
          <p:cNvSpPr txBox="1"/>
          <p:nvPr/>
        </p:nvSpPr>
        <p:spPr>
          <a:xfrm>
            <a:off x="5943600" y="2258568"/>
            <a:ext cx="2606040" cy="411480"/>
          </a:xfrm>
          <a:prstGeom prst="rect">
            <a:avLst/>
          </a:prstGeom>
          <a:noFill/>
          <a:ln/>
        </p:spPr>
        <p:txBody>
          <a:bodyPr wrap="square" lIns="0" tIns="0" rIns="0" bIns="0" rtlCol="0" anchor="t"/>
          <a:lstStyle/>
          <a:p>
            <a:pPr indent="0" marL="0">
              <a:buNone/>
            </a:pPr>
            <a:r>
              <a:rPr lang="en-US" sz="2400" b="1" dirty="0">
                <a:solidFill>
                  <a:srgbClr val="E8742B"/>
                </a:solidFill>
              </a:rPr>
              <a:t>~91%</a:t>
            </a:r>
            <a:endParaRPr lang="en-US" sz="2400" dirty="0"/>
          </a:p>
        </p:txBody>
      </p:sp>
      <p:sp>
        <p:nvSpPr>
          <p:cNvPr id="14" name="share label"/>
          <p:cNvSpPr txBox="1"/>
          <p:nvPr/>
        </p:nvSpPr>
        <p:spPr>
          <a:xfrm>
            <a:off x="5943600" y="2679192"/>
            <a:ext cx="2606040" cy="274320"/>
          </a:xfrm>
          <a:prstGeom prst="rect">
            <a:avLst/>
          </a:prstGeom>
          <a:noFill/>
          <a:ln/>
        </p:spPr>
        <p:txBody>
          <a:bodyPr wrap="square" lIns="0" tIns="0" rIns="0" bIns="0" rtlCol="0" anchor="t"/>
          <a:lstStyle/>
          <a:p>
            <a:pPr indent="0" marL="0">
              <a:buNone/>
            </a:pPr>
            <a:r>
              <a:rPr lang="en-US" sz="900" dirty="0">
                <a:solidFill>
                  <a:srgbClr val="5F5F5F"/>
                </a:solidFill>
              </a:rPr>
              <a:t>of India’s grocery retail still flows through them (Redseer, 2025)</a:t>
            </a:r>
            <a:endParaRPr lang="en-US" sz="900" dirty="0"/>
          </a:p>
        </p:txBody>
      </p:sp>
      <p:sp>
        <p:nvSpPr>
          <p:cNvPr id="15" name="Shape 12"/>
          <p:cNvSpPr/>
          <p:nvPr/>
        </p:nvSpPr>
        <p:spPr>
          <a:xfrm>
            <a:off x="5760720" y="3108960"/>
            <a:ext cx="2971800" cy="868680"/>
          </a:xfrm>
          <a:prstGeom prst="roundRect">
            <a:avLst>
              <a:gd name="adj" fmla="val 8421"/>
            </a:avLst>
          </a:prstGeom>
          <a:solidFill>
            <a:srgbClr val="F3EFEA"/>
          </a:solidFill>
          <a:ln w="12700">
            <a:solidFill>
              <a:srgbClr val="F3EFEA"/>
            </a:solidFill>
            <a:prstDash val="solid"/>
          </a:ln>
        </p:spPr>
      </p:sp>
      <p:sp>
        <p:nvSpPr>
          <p:cNvPr id="16" name="sam number"/>
          <p:cNvSpPr txBox="1"/>
          <p:nvPr/>
        </p:nvSpPr>
        <p:spPr>
          <a:xfrm>
            <a:off x="5943600" y="3218688"/>
            <a:ext cx="2606040" cy="411480"/>
          </a:xfrm>
          <a:prstGeom prst="rect">
            <a:avLst/>
          </a:prstGeom>
          <a:noFill/>
          <a:ln/>
        </p:spPr>
        <p:txBody>
          <a:bodyPr wrap="square" lIns="0" tIns="0" rIns="0" bIns="0" rtlCol="0" anchor="t"/>
          <a:lstStyle/>
          <a:p>
            <a:pPr indent="0" marL="0">
              <a:buNone/>
            </a:pPr>
            <a:r>
              <a:rPr lang="en-US" sz="2400" b="1" dirty="0">
                <a:solidFill>
                  <a:srgbClr val="E8742B"/>
                </a:solidFill>
              </a:rPr>
              <a:t>~6M</a:t>
            </a:r>
            <a:endParaRPr lang="en-US" sz="2400" dirty="0"/>
          </a:p>
        </p:txBody>
      </p:sp>
      <p:sp>
        <p:nvSpPr>
          <p:cNvPr id="17" name="sam label"/>
          <p:cNvSpPr txBox="1"/>
          <p:nvPr/>
        </p:nvSpPr>
        <p:spPr>
          <a:xfrm>
            <a:off x="5943600" y="3639312"/>
            <a:ext cx="2606040" cy="274320"/>
          </a:xfrm>
          <a:prstGeom prst="rect">
            <a:avLst/>
          </a:prstGeom>
          <a:noFill/>
          <a:ln/>
        </p:spPr>
        <p:txBody>
          <a:bodyPr wrap="square" lIns="0" tIns="0" rIns="0" bIns="0" rtlCol="0" anchor="t"/>
          <a:lstStyle/>
          <a:p>
            <a:pPr indent="0" marL="0">
              <a:buNone/>
            </a:pPr>
            <a:r>
              <a:rPr lang="en-US" sz="900" dirty="0">
                <a:solidFill>
                  <a:srgbClr val="5F5F5F"/>
                </a:solidFill>
              </a:rPr>
              <a:t>serviceable: smartphone-owning kiranas that order from a distributor (our estimate)</a:t>
            </a:r>
            <a:endParaRPr lang="en-US" sz="900" dirty="0"/>
          </a:p>
        </p:txBody>
      </p:sp>
      <p:sp>
        <p:nvSpPr>
          <p:cNvPr id="18" name="Text 15"/>
          <p:cNvSpPr txBox="1"/>
          <p:nvPr/>
        </p:nvSpPr>
        <p:spPr>
          <a:xfrm>
            <a:off x="5760720" y="4069080"/>
            <a:ext cx="2971800" cy="457200"/>
          </a:xfrm>
          <a:prstGeom prst="rect">
            <a:avLst/>
          </a:prstGeom>
          <a:noFill/>
          <a:ln/>
        </p:spPr>
        <p:txBody>
          <a:bodyPr wrap="square" lIns="0" tIns="0" rIns="0" bIns="0" rtlCol="0" anchor="t"/>
          <a:lstStyle/>
          <a:p>
            <a:pPr indent="0" marL="0">
              <a:buNone/>
            </a:pPr>
            <a:r>
              <a:rPr lang="en-US" sz="750" dirty="0">
                <a:solidFill>
                  <a:srgbClr val="5F5F5F"/>
                </a:solidFill>
              </a:rPr>
              <a:t>Sources: Invest India (store count); Redseer via 36Kr (2025 grocery share); serviceable figure is the team’s estimate</a:t>
            </a:r>
            <a:endParaRPr lang="en-US" sz="7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Opportunities</a:t>
            </a:r>
            <a:endParaRPr lang="en-US" sz="2600" dirty="0"/>
          </a:p>
        </p:txBody>
      </p:sp>
      <p:sp>
        <p:nvSpPr>
          <p:cNvPr id="3" name="Shape 1"/>
          <p:cNvSpPr/>
          <p:nvPr/>
        </p:nvSpPr>
        <p:spPr>
          <a:xfrm>
            <a:off x="411480" y="1188720"/>
            <a:ext cx="2697480" cy="2057400"/>
          </a:xfrm>
          <a:prstGeom prst="roundRect">
            <a:avLst>
              <a:gd name="adj" fmla="val 3556"/>
            </a:avLst>
          </a:prstGeom>
          <a:solidFill>
            <a:srgbClr val="F3EFEA"/>
          </a:solidFill>
          <a:ln w="12700">
            <a:solidFill>
              <a:srgbClr val="F3EFEA"/>
            </a:solidFill>
            <a:prstDash val="solid"/>
          </a:ln>
        </p:spPr>
      </p:sp>
      <p:pic>
        <p:nvPicPr>
          <p:cNvPr id="4" name="anim How is it different? icon" descr="preencoded.png">    </p:cNvPr>
          <p:cNvPicPr>
            <a:picLocks noChangeAspect="1"/>
          </p:cNvPicPr>
          <p:nvPr/>
        </p:nvPicPr>
        <p:blipFill>
          <a:blip r:embed="rId1"/>
          <a:stretch>
            <a:fillRect/>
          </a:stretch>
        </p:blipFill>
        <p:spPr>
          <a:xfrm>
            <a:off x="576072" y="1344168"/>
            <a:ext cx="237744" cy="237744"/>
          </a:xfrm>
          <a:prstGeom prst="rect">
            <a:avLst/>
          </a:prstGeom>
        </p:spPr>
      </p:pic>
      <p:sp>
        <p:nvSpPr>
          <p:cNvPr id="5" name="anim How is it different?"/>
          <p:cNvSpPr txBox="1"/>
          <p:nvPr/>
        </p:nvSpPr>
        <p:spPr>
          <a:xfrm>
            <a:off x="57607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How is it different?</a:t>
            </a:r>
            <a:endParaRPr lang="en-US" sz="1200" dirty="0"/>
          </a:p>
        </p:txBody>
      </p:sp>
      <p:sp>
        <p:nvSpPr>
          <p:cNvPr id="6" name="anim How is it different? text"/>
          <p:cNvSpPr txBox="1"/>
          <p:nvPr/>
        </p:nvSpPr>
        <p:spPr>
          <a:xfrm>
            <a:off x="576072" y="1938528"/>
            <a:ext cx="2368296" cy="1188720"/>
          </a:xfrm>
          <a:prstGeom prst="rect">
            <a:avLst/>
          </a:prstGeom>
          <a:noFill/>
          <a:ln/>
        </p:spPr>
        <p:txBody>
          <a:bodyPr wrap="square" lIns="0" tIns="0" rIns="0" bIns="0" rtlCol="0" anchor="t"/>
          <a:lstStyle/>
          <a:p>
            <a:pPr indent="0" marL="0">
              <a:buNone/>
            </a:pPr>
            <a:r>
              <a:rPr lang="en-US" sz="1000" dirty="0">
                <a:solidFill>
                  <a:srgbClr val="1A1A1A"/>
                </a:solidFill>
              </a:rPr>
              <a:t>Most retail AI is built for chains and e-commerce. Ledger and billing apps for small shops still expect typing, often in English. Kirana Copilot needs only a phone camera and a voice, and answers in the shopkeeper’s own language.</a:t>
            </a:r>
            <a:endParaRPr lang="en-US" sz="1000" dirty="0"/>
          </a:p>
        </p:txBody>
      </p:sp>
      <p:sp>
        <p:nvSpPr>
          <p:cNvPr id="7" name="Shape 4"/>
          <p:cNvSpPr/>
          <p:nvPr/>
        </p:nvSpPr>
        <p:spPr>
          <a:xfrm>
            <a:off x="3246120" y="1188720"/>
            <a:ext cx="2697480" cy="2057400"/>
          </a:xfrm>
          <a:prstGeom prst="roundRect">
            <a:avLst>
              <a:gd name="adj" fmla="val 3556"/>
            </a:avLst>
          </a:prstGeom>
          <a:solidFill>
            <a:srgbClr val="F3EFEA"/>
          </a:solidFill>
          <a:ln w="12700">
            <a:solidFill>
              <a:srgbClr val="F3EFEA"/>
            </a:solidFill>
            <a:prstDash val="solid"/>
          </a:ln>
        </p:spPr>
      </p:sp>
      <p:pic>
        <p:nvPicPr>
          <p:cNvPr id="8" name="anim How does it solve the problem? icon" descr="preencoded.png">    </p:cNvPr>
          <p:cNvPicPr>
            <a:picLocks noChangeAspect="1"/>
          </p:cNvPicPr>
          <p:nvPr/>
        </p:nvPicPr>
        <p:blipFill>
          <a:blip r:embed="rId2"/>
          <a:stretch>
            <a:fillRect/>
          </a:stretch>
        </p:blipFill>
        <p:spPr>
          <a:xfrm>
            <a:off x="3410712" y="1344168"/>
            <a:ext cx="237744" cy="237744"/>
          </a:xfrm>
          <a:prstGeom prst="rect">
            <a:avLst/>
          </a:prstGeom>
        </p:spPr>
      </p:pic>
      <p:sp>
        <p:nvSpPr>
          <p:cNvPr id="9" name="anim How does it solve the problem?"/>
          <p:cNvSpPr txBox="1"/>
          <p:nvPr/>
        </p:nvSpPr>
        <p:spPr>
          <a:xfrm>
            <a:off x="341071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How does it solve the problem?</a:t>
            </a:r>
            <a:endParaRPr lang="en-US" sz="1200" dirty="0"/>
          </a:p>
        </p:txBody>
      </p:sp>
      <p:sp>
        <p:nvSpPr>
          <p:cNvPr id="10" name="anim How does it solve the problem? text"/>
          <p:cNvSpPr txBox="1"/>
          <p:nvPr/>
        </p:nvSpPr>
        <p:spPr>
          <a:xfrm>
            <a:off x="3410712" y="1938528"/>
            <a:ext cx="2368296" cy="1188720"/>
          </a:xfrm>
          <a:prstGeom prst="rect">
            <a:avLst/>
          </a:prstGeom>
          <a:noFill/>
          <a:ln/>
        </p:spPr>
        <p:txBody>
          <a:bodyPr wrap="square" lIns="0" tIns="0" rIns="0" bIns="0" rtlCol="0" anchor="t"/>
          <a:lstStyle/>
          <a:p>
            <a:pPr indent="0" marL="0">
              <a:buNone/>
            </a:pPr>
            <a:r>
              <a:rPr lang="en-US" sz="1000" dirty="0">
                <a:solidFill>
                  <a:srgbClr val="1A1A1A"/>
                </a:solidFill>
              </a:rPr>
              <a:t>It turns shelf photos and voice notes into stock records automatically, forecasts demand around India’s festival calendar, and prompts the shopkeeper to place the order with the distributor before the shelf runs empty.</a:t>
            </a:r>
            <a:endParaRPr lang="en-US" sz="1000" dirty="0"/>
          </a:p>
        </p:txBody>
      </p:sp>
      <p:sp>
        <p:nvSpPr>
          <p:cNvPr id="11" name="Shape 7"/>
          <p:cNvSpPr/>
          <p:nvPr/>
        </p:nvSpPr>
        <p:spPr>
          <a:xfrm>
            <a:off x="6080760" y="1188720"/>
            <a:ext cx="2651760" cy="2057400"/>
          </a:xfrm>
          <a:prstGeom prst="roundRect">
            <a:avLst>
              <a:gd name="adj" fmla="val 3556"/>
            </a:avLst>
          </a:prstGeom>
          <a:solidFill>
            <a:srgbClr val="F3EFEA"/>
          </a:solidFill>
          <a:ln w="12700">
            <a:solidFill>
              <a:srgbClr val="F3EFEA"/>
            </a:solidFill>
            <a:prstDash val="solid"/>
          </a:ln>
        </p:spPr>
      </p:sp>
      <p:pic>
        <p:nvPicPr>
          <p:cNvPr id="12" name="anim Why now, and how big icon" descr="preencoded.png">    </p:cNvPr>
          <p:cNvPicPr>
            <a:picLocks noChangeAspect="1"/>
          </p:cNvPicPr>
          <p:nvPr/>
        </p:nvPicPr>
        <p:blipFill>
          <a:blip r:embed="rId3"/>
          <a:stretch>
            <a:fillRect/>
          </a:stretch>
        </p:blipFill>
        <p:spPr>
          <a:xfrm>
            <a:off x="6245352" y="1344168"/>
            <a:ext cx="237744" cy="237744"/>
          </a:xfrm>
          <a:prstGeom prst="rect">
            <a:avLst/>
          </a:prstGeom>
        </p:spPr>
      </p:pic>
      <p:sp>
        <p:nvSpPr>
          <p:cNvPr id="13" name="anim Why now, and how big"/>
          <p:cNvSpPr txBox="1"/>
          <p:nvPr/>
        </p:nvSpPr>
        <p:spPr>
          <a:xfrm>
            <a:off x="6245352" y="1645920"/>
            <a:ext cx="2322576" cy="274320"/>
          </a:xfrm>
          <a:prstGeom prst="rect">
            <a:avLst/>
          </a:prstGeom>
          <a:noFill/>
          <a:ln/>
        </p:spPr>
        <p:txBody>
          <a:bodyPr wrap="square" lIns="0" tIns="0" rIns="0" bIns="0" rtlCol="0" anchor="t"/>
          <a:lstStyle/>
          <a:p>
            <a:pPr indent="0" marL="0">
              <a:buNone/>
            </a:pPr>
            <a:r>
              <a:rPr lang="en-US" sz="1200" b="1" dirty="0">
                <a:solidFill>
                  <a:srgbClr val="1A1A1A"/>
                </a:solidFill>
              </a:rPr>
              <a:t>Why now, and how big</a:t>
            </a:r>
            <a:endParaRPr lang="en-US" sz="1200" dirty="0"/>
          </a:p>
        </p:txBody>
      </p:sp>
      <p:sp>
        <p:nvSpPr>
          <p:cNvPr id="14" name="anim Why now, and how big text"/>
          <p:cNvSpPr txBox="1"/>
          <p:nvPr/>
        </p:nvSpPr>
        <p:spPr>
          <a:xfrm>
            <a:off x="6245352" y="1938528"/>
            <a:ext cx="2322576" cy="1188720"/>
          </a:xfrm>
          <a:prstGeom prst="rect">
            <a:avLst/>
          </a:prstGeom>
          <a:noFill/>
          <a:ln/>
        </p:spPr>
        <p:txBody>
          <a:bodyPr wrap="square" lIns="0" tIns="0" rIns="0" bIns="0" rtlCol="0" anchor="t"/>
          <a:lstStyle/>
          <a:p>
            <a:pPr indent="0" marL="0">
              <a:buNone/>
            </a:pPr>
            <a:r>
              <a:rPr lang="en-US" sz="1000" dirty="0">
                <a:solidFill>
                  <a:srgbClr val="1A1A1A"/>
                </a:solidFill>
              </a:rPr>
              <a:t>13M stores, ₹200 average bill, smartphones in most shops. Gemini’s native audio and vision make zero-typing input practical for the first time, and serverless GCP keeps cost per shop in paise.</a:t>
            </a:r>
            <a:endParaRPr lang="en-US" sz="1000" dirty="0"/>
          </a:p>
        </p:txBody>
      </p:sp>
      <p:sp>
        <p:nvSpPr>
          <p:cNvPr id="15" name="Text 10"/>
          <p:cNvSpPr txBox="1"/>
          <p:nvPr/>
        </p:nvSpPr>
        <p:spPr>
          <a:xfrm>
            <a:off x="411480" y="3383280"/>
            <a:ext cx="914400" cy="274320"/>
          </a:xfrm>
          <a:prstGeom prst="rect">
            <a:avLst/>
          </a:prstGeom>
          <a:noFill/>
          <a:ln/>
        </p:spPr>
        <p:txBody>
          <a:bodyPr wrap="square" lIns="0" tIns="0" rIns="0" bIns="0" rtlCol="0" anchor="t"/>
          <a:lstStyle/>
          <a:p>
            <a:pPr indent="0" marL="0">
              <a:buNone/>
            </a:pPr>
            <a:r>
              <a:rPr lang="en-US" sz="1200" b="1" dirty="0">
                <a:solidFill>
                  <a:srgbClr val="E8742B"/>
                </a:solidFill>
              </a:rPr>
              <a:t>USP</a:t>
            </a:r>
            <a:endParaRPr lang="en-US" sz="1200" dirty="0"/>
          </a:p>
        </p:txBody>
      </p:sp>
      <p:sp>
        <p:nvSpPr>
          <p:cNvPr id="16" name="Shape 11"/>
          <p:cNvSpPr/>
          <p:nvPr/>
        </p:nvSpPr>
        <p:spPr>
          <a:xfrm>
            <a:off x="411480" y="3703320"/>
            <a:ext cx="2697480" cy="868680"/>
          </a:xfrm>
          <a:prstGeom prst="roundRect">
            <a:avLst>
              <a:gd name="adj" fmla="val 8421"/>
            </a:avLst>
          </a:prstGeom>
          <a:solidFill>
            <a:srgbClr val="D9EDE2"/>
          </a:solidFill>
          <a:ln w="12700">
            <a:solidFill>
              <a:srgbClr val="D9EDE2"/>
            </a:solidFill>
            <a:prstDash val="solid"/>
          </a:ln>
        </p:spPr>
      </p:sp>
      <p:pic>
        <p:nvPicPr>
          <p:cNvPr id="17" name="usp icon 0" descr="preencoded.png">    </p:cNvPr>
          <p:cNvPicPr>
            <a:picLocks noChangeAspect="1"/>
          </p:cNvPicPr>
          <p:nvPr/>
        </p:nvPicPr>
        <p:blipFill>
          <a:blip r:embed="rId4"/>
          <a:stretch>
            <a:fillRect/>
          </a:stretch>
        </p:blipFill>
        <p:spPr>
          <a:xfrm>
            <a:off x="548640" y="3840480"/>
            <a:ext cx="237744" cy="237744"/>
          </a:xfrm>
          <a:prstGeom prst="rect">
            <a:avLst/>
          </a:prstGeom>
        </p:spPr>
      </p:pic>
      <p:sp>
        <p:nvSpPr>
          <p:cNvPr id="18" name="anim usp head 0"/>
          <p:cNvSpPr txBox="1"/>
          <p:nvPr/>
        </p:nvSpPr>
        <p:spPr>
          <a:xfrm>
            <a:off x="868680" y="3794760"/>
            <a:ext cx="2148840" cy="274320"/>
          </a:xfrm>
          <a:prstGeom prst="rect">
            <a:avLst/>
          </a:prstGeom>
          <a:noFill/>
          <a:ln/>
        </p:spPr>
        <p:txBody>
          <a:bodyPr wrap="square" lIns="0" tIns="0" rIns="0" bIns="0" rtlCol="0" anchor="t"/>
          <a:lstStyle/>
          <a:p>
            <a:pPr indent="0" marL="0">
              <a:buNone/>
            </a:pPr>
            <a:r>
              <a:rPr lang="en-US" sz="1050" b="1" dirty="0">
                <a:solidFill>
                  <a:srgbClr val="2E6B4E"/>
                </a:solidFill>
              </a:rPr>
              <a:t>Speaks their language</a:t>
            </a:r>
            <a:endParaRPr lang="en-US" sz="1050" dirty="0"/>
          </a:p>
        </p:txBody>
      </p:sp>
      <p:sp>
        <p:nvSpPr>
          <p:cNvPr id="19" name="anim usp text 0"/>
          <p:cNvSpPr txBox="1"/>
          <p:nvPr/>
        </p:nvSpPr>
        <p:spPr>
          <a:xfrm>
            <a:off x="868680" y="4069080"/>
            <a:ext cx="2148840" cy="457200"/>
          </a:xfrm>
          <a:prstGeom prst="rect">
            <a:avLst/>
          </a:prstGeom>
          <a:noFill/>
          <a:ln/>
        </p:spPr>
        <p:txBody>
          <a:bodyPr wrap="square" lIns="0" tIns="0" rIns="0" bIns="0" rtlCol="0" anchor="t"/>
          <a:lstStyle/>
          <a:p>
            <a:pPr indent="0" marL="0">
              <a:buNone/>
            </a:pPr>
            <a:r>
              <a:rPr lang="en-US" sz="900" dirty="0">
                <a:solidFill>
                  <a:srgbClr val="1A1A1A"/>
                </a:solidFill>
              </a:rPr>
              <a:t>Hindi, Hinglish and the 22 scheduled languages, code-mixing included</a:t>
            </a:r>
            <a:endParaRPr lang="en-US" sz="900" dirty="0"/>
          </a:p>
        </p:txBody>
      </p:sp>
      <p:sp>
        <p:nvSpPr>
          <p:cNvPr id="20" name="Shape 14"/>
          <p:cNvSpPr/>
          <p:nvPr/>
        </p:nvSpPr>
        <p:spPr>
          <a:xfrm>
            <a:off x="3246120" y="3703320"/>
            <a:ext cx="2697480" cy="868680"/>
          </a:xfrm>
          <a:prstGeom prst="roundRect">
            <a:avLst>
              <a:gd name="adj" fmla="val 8421"/>
            </a:avLst>
          </a:prstGeom>
          <a:solidFill>
            <a:srgbClr val="D9EDE2"/>
          </a:solidFill>
          <a:ln w="12700">
            <a:solidFill>
              <a:srgbClr val="D9EDE2"/>
            </a:solidFill>
            <a:prstDash val="solid"/>
          </a:ln>
        </p:spPr>
      </p:sp>
      <p:pic>
        <p:nvPicPr>
          <p:cNvPr id="21" name="usp icon 1" descr="preencoded.png">    </p:cNvPr>
          <p:cNvPicPr>
            <a:picLocks noChangeAspect="1"/>
          </p:cNvPicPr>
          <p:nvPr/>
        </p:nvPicPr>
        <p:blipFill>
          <a:blip r:embed="rId5"/>
          <a:stretch>
            <a:fillRect/>
          </a:stretch>
        </p:blipFill>
        <p:spPr>
          <a:xfrm>
            <a:off x="3383280" y="3840480"/>
            <a:ext cx="237744" cy="237744"/>
          </a:xfrm>
          <a:prstGeom prst="rect">
            <a:avLst/>
          </a:prstGeom>
        </p:spPr>
      </p:pic>
      <p:sp>
        <p:nvSpPr>
          <p:cNvPr id="22" name="anim usp head 1"/>
          <p:cNvSpPr txBox="1"/>
          <p:nvPr/>
        </p:nvSpPr>
        <p:spPr>
          <a:xfrm>
            <a:off x="3703320" y="3794760"/>
            <a:ext cx="2148840" cy="274320"/>
          </a:xfrm>
          <a:prstGeom prst="rect">
            <a:avLst/>
          </a:prstGeom>
          <a:noFill/>
          <a:ln/>
        </p:spPr>
        <p:txBody>
          <a:bodyPr wrap="square" lIns="0" tIns="0" rIns="0" bIns="0" rtlCol="0" anchor="t"/>
          <a:lstStyle/>
          <a:p>
            <a:pPr indent="0" marL="0">
              <a:buNone/>
            </a:pPr>
            <a:r>
              <a:rPr lang="en-US" sz="1050" b="1" dirty="0">
                <a:solidFill>
                  <a:srgbClr val="2E6B4E"/>
                </a:solidFill>
              </a:rPr>
              <a:t>Zero data entry</a:t>
            </a:r>
            <a:endParaRPr lang="en-US" sz="1050" dirty="0"/>
          </a:p>
        </p:txBody>
      </p:sp>
      <p:sp>
        <p:nvSpPr>
          <p:cNvPr id="23" name="anim usp text 1"/>
          <p:cNvSpPr txBox="1"/>
          <p:nvPr/>
        </p:nvSpPr>
        <p:spPr>
          <a:xfrm>
            <a:off x="3703320" y="4069080"/>
            <a:ext cx="2148840" cy="457200"/>
          </a:xfrm>
          <a:prstGeom prst="rect">
            <a:avLst/>
          </a:prstGeom>
          <a:noFill/>
          <a:ln/>
        </p:spPr>
        <p:txBody>
          <a:bodyPr wrap="square" lIns="0" tIns="0" rIns="0" bIns="0" rtlCol="0" anchor="t"/>
          <a:lstStyle/>
          <a:p>
            <a:pPr indent="0" marL="0">
              <a:buNone/>
            </a:pPr>
            <a:r>
              <a:rPr lang="en-US" sz="900" dirty="0">
                <a:solidFill>
                  <a:srgbClr val="1A1A1A"/>
                </a:solidFill>
              </a:rPr>
              <a:t>Photo and voice in, stock and orders out, with one-tap undo</a:t>
            </a:r>
            <a:endParaRPr lang="en-US" sz="900" dirty="0"/>
          </a:p>
        </p:txBody>
      </p:sp>
      <p:sp>
        <p:nvSpPr>
          <p:cNvPr id="24" name="Shape 17"/>
          <p:cNvSpPr/>
          <p:nvPr/>
        </p:nvSpPr>
        <p:spPr>
          <a:xfrm>
            <a:off x="6080760" y="3703320"/>
            <a:ext cx="2697480" cy="868680"/>
          </a:xfrm>
          <a:prstGeom prst="roundRect">
            <a:avLst>
              <a:gd name="adj" fmla="val 8421"/>
            </a:avLst>
          </a:prstGeom>
          <a:solidFill>
            <a:srgbClr val="D9EDE2"/>
          </a:solidFill>
          <a:ln w="12700">
            <a:solidFill>
              <a:srgbClr val="D9EDE2"/>
            </a:solidFill>
            <a:prstDash val="solid"/>
          </a:ln>
        </p:spPr>
      </p:sp>
      <p:pic>
        <p:nvPicPr>
          <p:cNvPr id="25" name="usp icon 2" descr="preencoded.png">    </p:cNvPr>
          <p:cNvPicPr>
            <a:picLocks noChangeAspect="1"/>
          </p:cNvPicPr>
          <p:nvPr/>
        </p:nvPicPr>
        <p:blipFill>
          <a:blip r:embed="rId6"/>
          <a:stretch>
            <a:fillRect/>
          </a:stretch>
        </p:blipFill>
        <p:spPr>
          <a:xfrm>
            <a:off x="6217920" y="3840480"/>
            <a:ext cx="237744" cy="237744"/>
          </a:xfrm>
          <a:prstGeom prst="rect">
            <a:avLst/>
          </a:prstGeom>
        </p:spPr>
      </p:pic>
      <p:sp>
        <p:nvSpPr>
          <p:cNvPr id="26" name="anim usp head 2"/>
          <p:cNvSpPr txBox="1"/>
          <p:nvPr/>
        </p:nvSpPr>
        <p:spPr>
          <a:xfrm>
            <a:off x="6537960" y="3794760"/>
            <a:ext cx="2148840" cy="274320"/>
          </a:xfrm>
          <a:prstGeom prst="rect">
            <a:avLst/>
          </a:prstGeom>
          <a:noFill/>
          <a:ln/>
        </p:spPr>
        <p:txBody>
          <a:bodyPr wrap="square" lIns="0" tIns="0" rIns="0" bIns="0" rtlCol="0" anchor="t"/>
          <a:lstStyle/>
          <a:p>
            <a:pPr indent="0" marL="0">
              <a:buNone/>
            </a:pPr>
            <a:r>
              <a:rPr lang="en-US" sz="1050" b="1" dirty="0">
                <a:solidFill>
                  <a:srgbClr val="2E6B4E"/>
                </a:solidFill>
              </a:rPr>
              <a:t>Built around India’s calendar</a:t>
            </a:r>
            <a:endParaRPr lang="en-US" sz="1050" dirty="0"/>
          </a:p>
        </p:txBody>
      </p:sp>
      <p:sp>
        <p:nvSpPr>
          <p:cNvPr id="27" name="anim usp text 2"/>
          <p:cNvSpPr txBox="1"/>
          <p:nvPr/>
        </p:nvSpPr>
        <p:spPr>
          <a:xfrm>
            <a:off x="6537960" y="4069080"/>
            <a:ext cx="2148840" cy="457200"/>
          </a:xfrm>
          <a:prstGeom prst="rect">
            <a:avLst/>
          </a:prstGeom>
          <a:noFill/>
          <a:ln/>
        </p:spPr>
        <p:txBody>
          <a:bodyPr wrap="square" lIns="0" tIns="0" rIns="0" bIns="0" rtlCol="0" anchor="t"/>
          <a:lstStyle/>
          <a:p>
            <a:pPr indent="0" marL="0">
              <a:buNone/>
            </a:pPr>
            <a:r>
              <a:rPr lang="en-US" sz="900" dirty="0">
                <a:solidFill>
                  <a:srgbClr val="1A1A1A"/>
                </a:solidFill>
              </a:rPr>
              <a:t>Demand forecast knows Diwali, Eid, Navratri and wedding season</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 fill="hold">
                      <p:stCondLst>
                        <p:cond delay="indefinite"/>
                      </p:stCondLst>
                      <p:childTnLst>
                        <p:par>
                          <p:cTn id="4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00"/>
                                        <p:tgtEl>
                                          <p:spTgt spid="18"/>
                                        </p:tgtEl>
                                      </p:cBhvr>
                                    </p:animEffect>
                                  </p:childTnLst>
                                </p:cTn>
                              </p:par>
                              <p:par>
                                <p:cTn id="33" presetID="10" presetClass="entr" presetSubtype="0" fill="hold" grpId="0" nodeType="withEffect">
                                  <p:stCondLst>
                                    <p:cond delay="250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00"/>
                                        <p:tgtEl>
                                          <p:spTgt spid="19"/>
                                        </p:tgtEl>
                                      </p:cBhvr>
                                    </p:animEffect>
                                  </p:childTnLst>
                                </p:cTn>
                              </p:par>
                              <p:par>
                                <p:cTn id="36" presetID="10" presetClass="entr" presetSubtype="0" fill="hold" grpId="0" nodeType="withEffect">
                                  <p:stCondLst>
                                    <p:cond delay="275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par>
                                <p:cTn id="39" presetID="10" presetClass="entr" presetSubtype="0" fill="hold" grpId="0" nodeType="withEffect">
                                  <p:stCondLst>
                                    <p:cond delay="300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400"/>
                                        <p:tgtEl>
                                          <p:spTgt spid="23"/>
                                        </p:tgtEl>
                                      </p:cBhvr>
                                    </p:animEffect>
                                  </p:childTnLst>
                                </p:cTn>
                              </p:par>
                              <p:par>
                                <p:cTn id="42" presetID="10" presetClass="entr" presetSubtype="0" fill="hold" grpId="0" nodeType="withEffect">
                                  <p:stCondLst>
                                    <p:cond delay="325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400"/>
                                        <p:tgtEl>
                                          <p:spTgt spid="26"/>
                                        </p:tgtEl>
                                      </p:cBhvr>
                                    </p:animEffect>
                                  </p:childTnLst>
                                </p:cTn>
                              </p:par>
                              <p:par>
                                <p:cTn id="45" presetID="10" presetClass="entr" presetSubtype="0" fill="hold" grpId="0" nodeType="withEffect">
                                  <p:stCondLst>
                                    <p:cond delay="350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List of features offered by the solution</a:t>
            </a:r>
            <a:endParaRPr lang="en-US" sz="2600" dirty="0"/>
          </a:p>
        </p:txBody>
      </p:sp>
      <p:sp>
        <p:nvSpPr>
          <p:cNvPr id="3" name="Shape 1"/>
          <p:cNvSpPr/>
          <p:nvPr/>
        </p:nvSpPr>
        <p:spPr>
          <a:xfrm>
            <a:off x="411480" y="1188720"/>
            <a:ext cx="2697480" cy="1554480"/>
          </a:xfrm>
          <a:prstGeom prst="roundRect">
            <a:avLst>
              <a:gd name="adj" fmla="val 4706"/>
            </a:avLst>
          </a:prstGeom>
          <a:solidFill>
            <a:srgbClr val="F3EFEA"/>
          </a:solidFill>
          <a:ln w="12700">
            <a:solidFill>
              <a:srgbClr val="F3EFEA"/>
            </a:solidFill>
            <a:prstDash val="solid"/>
          </a:ln>
        </p:spPr>
      </p:sp>
      <p:pic>
        <p:nvPicPr>
          <p:cNvPr id="4" name="anim Shelf check icon" descr="preencoded.png">    </p:cNvPr>
          <p:cNvPicPr>
            <a:picLocks noChangeAspect="1"/>
          </p:cNvPicPr>
          <p:nvPr/>
        </p:nvPicPr>
        <p:blipFill>
          <a:blip r:embed="rId1"/>
          <a:stretch>
            <a:fillRect/>
          </a:stretch>
        </p:blipFill>
        <p:spPr>
          <a:xfrm>
            <a:off x="576072" y="1344168"/>
            <a:ext cx="237744" cy="237744"/>
          </a:xfrm>
          <a:prstGeom prst="rect">
            <a:avLst/>
          </a:prstGeom>
        </p:spPr>
      </p:pic>
      <p:sp>
        <p:nvSpPr>
          <p:cNvPr id="5" name="anim Shelf check"/>
          <p:cNvSpPr txBox="1"/>
          <p:nvPr/>
        </p:nvSpPr>
        <p:spPr>
          <a:xfrm>
            <a:off x="57607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Shelf check</a:t>
            </a:r>
            <a:endParaRPr lang="en-US" sz="1200" dirty="0"/>
          </a:p>
        </p:txBody>
      </p:sp>
      <p:sp>
        <p:nvSpPr>
          <p:cNvPr id="6" name="anim Shelf check text"/>
          <p:cNvSpPr txBox="1"/>
          <p:nvPr/>
        </p:nvSpPr>
        <p:spPr>
          <a:xfrm>
            <a:off x="576072" y="1938528"/>
            <a:ext cx="2368296" cy="685800"/>
          </a:xfrm>
          <a:prstGeom prst="rect">
            <a:avLst/>
          </a:prstGeom>
          <a:noFill/>
          <a:ln/>
        </p:spPr>
        <p:txBody>
          <a:bodyPr wrap="square" lIns="0" tIns="0" rIns="0" bIns="0" rtlCol="0" anchor="t"/>
          <a:lstStyle/>
          <a:p>
            <a:pPr indent="0" marL="0">
              <a:buNone/>
            </a:pPr>
            <a:r>
              <a:rPr lang="en-US" sz="1000" dirty="0">
                <a:solidFill>
                  <a:srgbClr val="1A1A1A"/>
                </a:solidFill>
              </a:rPr>
              <a:t>One photo; Gemini counts packs, flags what is low and asks “Update karoon?” before anything changes.</a:t>
            </a:r>
            <a:endParaRPr lang="en-US" sz="1000" dirty="0"/>
          </a:p>
        </p:txBody>
      </p:sp>
      <p:sp>
        <p:nvSpPr>
          <p:cNvPr id="7" name="Shape 4"/>
          <p:cNvSpPr/>
          <p:nvPr/>
        </p:nvSpPr>
        <p:spPr>
          <a:xfrm>
            <a:off x="3246120" y="1188720"/>
            <a:ext cx="2697480" cy="1554480"/>
          </a:xfrm>
          <a:prstGeom prst="roundRect">
            <a:avLst>
              <a:gd name="adj" fmla="val 4706"/>
            </a:avLst>
          </a:prstGeom>
          <a:solidFill>
            <a:srgbClr val="F3EFEA"/>
          </a:solidFill>
          <a:ln w="12700">
            <a:solidFill>
              <a:srgbClr val="F3EFEA"/>
            </a:solidFill>
            <a:prstDash val="solid"/>
          </a:ln>
        </p:spPr>
      </p:sp>
      <p:pic>
        <p:nvPicPr>
          <p:cNvPr id="8" name="anim Voice ordering &amp; stock entry icon" descr="preencoded.png">    </p:cNvPr>
          <p:cNvPicPr>
            <a:picLocks noChangeAspect="1"/>
          </p:cNvPicPr>
          <p:nvPr/>
        </p:nvPicPr>
        <p:blipFill>
          <a:blip r:embed="rId2"/>
          <a:stretch>
            <a:fillRect/>
          </a:stretch>
        </p:blipFill>
        <p:spPr>
          <a:xfrm>
            <a:off x="3410712" y="1344168"/>
            <a:ext cx="237744" cy="237744"/>
          </a:xfrm>
          <a:prstGeom prst="rect">
            <a:avLst/>
          </a:prstGeom>
        </p:spPr>
      </p:pic>
      <p:sp>
        <p:nvSpPr>
          <p:cNvPr id="9" name="anim Voice ordering &amp;amp; stock entry"/>
          <p:cNvSpPr txBox="1"/>
          <p:nvPr/>
        </p:nvSpPr>
        <p:spPr>
          <a:xfrm>
            <a:off x="341071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Voice ordering &amp; stock entry</a:t>
            </a:r>
            <a:endParaRPr lang="en-US" sz="1200" dirty="0"/>
          </a:p>
        </p:txBody>
      </p:sp>
      <p:sp>
        <p:nvSpPr>
          <p:cNvPr id="10" name="anim Voice ordering &amp;amp; stock entry text"/>
          <p:cNvSpPr txBox="1"/>
          <p:nvPr/>
        </p:nvSpPr>
        <p:spPr>
          <a:xfrm>
            <a:off x="3410712" y="1938528"/>
            <a:ext cx="2368296" cy="685800"/>
          </a:xfrm>
          <a:prstGeom prst="rect">
            <a:avLst/>
          </a:prstGeom>
          <a:noFill/>
          <a:ln/>
        </p:spPr>
        <p:txBody>
          <a:bodyPr wrap="square" lIns="0" tIns="0" rIns="0" bIns="0" rtlCol="0" anchor="t"/>
          <a:lstStyle/>
          <a:p>
            <a:pPr indent="0" marL="0">
              <a:buNone/>
            </a:pPr>
            <a:r>
              <a:rPr lang="en-US" sz="1000" dirty="0">
                <a:solidFill>
                  <a:srgbClr val="1A1A1A"/>
                </a:solidFill>
              </a:rPr>
              <a:t>Say “Kal Parle-G ke 3 carton aaye”; stock updates and the next distributor order is one tap away.</a:t>
            </a:r>
            <a:endParaRPr lang="en-US" sz="1000" dirty="0"/>
          </a:p>
        </p:txBody>
      </p:sp>
      <p:sp>
        <p:nvSpPr>
          <p:cNvPr id="11" name="Shape 7"/>
          <p:cNvSpPr/>
          <p:nvPr/>
        </p:nvSpPr>
        <p:spPr>
          <a:xfrm>
            <a:off x="6080760" y="1188720"/>
            <a:ext cx="2697480" cy="1554480"/>
          </a:xfrm>
          <a:prstGeom prst="roundRect">
            <a:avLst>
              <a:gd name="adj" fmla="val 4706"/>
            </a:avLst>
          </a:prstGeom>
          <a:solidFill>
            <a:srgbClr val="F3EFEA"/>
          </a:solidFill>
          <a:ln w="12700">
            <a:solidFill>
              <a:srgbClr val="F3EFEA"/>
            </a:solidFill>
            <a:prstDash val="solid"/>
          </a:ln>
        </p:spPr>
      </p:sp>
      <p:pic>
        <p:nvPicPr>
          <p:cNvPr id="12" name="anim Demand &amp; supply forecast icon" descr="preencoded.png">    </p:cNvPr>
          <p:cNvPicPr>
            <a:picLocks noChangeAspect="1"/>
          </p:cNvPicPr>
          <p:nvPr/>
        </p:nvPicPr>
        <p:blipFill>
          <a:blip r:embed="rId3"/>
          <a:stretch>
            <a:fillRect/>
          </a:stretch>
        </p:blipFill>
        <p:spPr>
          <a:xfrm>
            <a:off x="6245352" y="1344168"/>
            <a:ext cx="237744" cy="237744"/>
          </a:xfrm>
          <a:prstGeom prst="rect">
            <a:avLst/>
          </a:prstGeom>
        </p:spPr>
      </p:pic>
      <p:sp>
        <p:nvSpPr>
          <p:cNvPr id="13" name="anim Demand &amp;amp; supply forecast"/>
          <p:cNvSpPr txBox="1"/>
          <p:nvPr/>
        </p:nvSpPr>
        <p:spPr>
          <a:xfrm>
            <a:off x="624535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Demand &amp; supply forecast</a:t>
            </a:r>
            <a:endParaRPr lang="en-US" sz="1200" dirty="0"/>
          </a:p>
        </p:txBody>
      </p:sp>
      <p:sp>
        <p:nvSpPr>
          <p:cNvPr id="14" name="anim Demand &amp;amp; supply forecast text"/>
          <p:cNvSpPr txBox="1"/>
          <p:nvPr/>
        </p:nvSpPr>
        <p:spPr>
          <a:xfrm>
            <a:off x="6245352" y="1938528"/>
            <a:ext cx="2368296" cy="685800"/>
          </a:xfrm>
          <a:prstGeom prst="rect">
            <a:avLst/>
          </a:prstGeom>
          <a:noFill/>
          <a:ln/>
        </p:spPr>
        <p:txBody>
          <a:bodyPr wrap="square" lIns="0" tIns="0" rIns="0" bIns="0" rtlCol="0" anchor="t"/>
          <a:lstStyle/>
          <a:p>
            <a:pPr indent="0" marL="0">
              <a:buNone/>
            </a:pPr>
            <a:r>
              <a:rPr lang="en-US" sz="1000" dirty="0">
                <a:solidFill>
                  <a:srgbClr val="1A1A1A"/>
                </a:solidFill>
              </a:rPr>
              <a:t>BigQuery ML ARIMA_PLUS with Indian holidays: 4 weeks ahead per item, Diwali bump included.</a:t>
            </a:r>
            <a:endParaRPr lang="en-US" sz="1000" dirty="0"/>
          </a:p>
        </p:txBody>
      </p:sp>
      <p:sp>
        <p:nvSpPr>
          <p:cNvPr id="15" name="Shape 10"/>
          <p:cNvSpPr/>
          <p:nvPr/>
        </p:nvSpPr>
        <p:spPr>
          <a:xfrm>
            <a:off x="411480" y="2880360"/>
            <a:ext cx="2697480" cy="1554480"/>
          </a:xfrm>
          <a:prstGeom prst="roundRect">
            <a:avLst>
              <a:gd name="adj" fmla="val 4706"/>
            </a:avLst>
          </a:prstGeom>
          <a:solidFill>
            <a:srgbClr val="F3EFEA"/>
          </a:solidFill>
          <a:ln w="12700">
            <a:solidFill>
              <a:srgbClr val="F3EFEA"/>
            </a:solidFill>
            <a:prstDash val="solid"/>
          </a:ln>
        </p:spPr>
      </p:sp>
      <p:pic>
        <p:nvPicPr>
          <p:cNvPr id="16" name="anim Smart restock icon" descr="preencoded.png">    </p:cNvPr>
          <p:cNvPicPr>
            <a:picLocks noChangeAspect="1"/>
          </p:cNvPicPr>
          <p:nvPr/>
        </p:nvPicPr>
        <p:blipFill>
          <a:blip r:embed="rId4"/>
          <a:stretch>
            <a:fillRect/>
          </a:stretch>
        </p:blipFill>
        <p:spPr>
          <a:xfrm>
            <a:off x="576072" y="3035808"/>
            <a:ext cx="237744" cy="237744"/>
          </a:xfrm>
          <a:prstGeom prst="rect">
            <a:avLst/>
          </a:prstGeom>
        </p:spPr>
      </p:pic>
      <p:sp>
        <p:nvSpPr>
          <p:cNvPr id="17" name="anim Smart restock"/>
          <p:cNvSpPr txBox="1"/>
          <p:nvPr/>
        </p:nvSpPr>
        <p:spPr>
          <a:xfrm>
            <a:off x="576072" y="333756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Smart restock</a:t>
            </a:r>
            <a:endParaRPr lang="en-US" sz="1200" dirty="0"/>
          </a:p>
        </p:txBody>
      </p:sp>
      <p:sp>
        <p:nvSpPr>
          <p:cNvPr id="18" name="anim Smart restock text"/>
          <p:cNvSpPr txBox="1"/>
          <p:nvPr/>
        </p:nvSpPr>
        <p:spPr>
          <a:xfrm>
            <a:off x="576072" y="3630168"/>
            <a:ext cx="2368296" cy="685800"/>
          </a:xfrm>
          <a:prstGeom prst="rect">
            <a:avLst/>
          </a:prstGeom>
          <a:noFill/>
          <a:ln/>
        </p:spPr>
        <p:txBody>
          <a:bodyPr wrap="square" lIns="0" tIns="0" rIns="0" bIns="0" rtlCol="0" anchor="t"/>
          <a:lstStyle/>
          <a:p>
            <a:pPr indent="0" marL="0">
              <a:buNone/>
            </a:pPr>
            <a:r>
              <a:rPr lang="en-US" sz="1000" dirty="0">
                <a:solidFill>
                  <a:srgbClr val="1A1A1A"/>
                </a:solidFill>
              </a:rPr>
              <a:t>Top sellers that are low and have run hot for 2 weeks get an order drafted and a WhatsApp nudge to the distributor.</a:t>
            </a:r>
            <a:endParaRPr lang="en-US" sz="1000" dirty="0"/>
          </a:p>
        </p:txBody>
      </p:sp>
      <p:sp>
        <p:nvSpPr>
          <p:cNvPr id="19" name="Shape 13"/>
          <p:cNvSpPr/>
          <p:nvPr/>
        </p:nvSpPr>
        <p:spPr>
          <a:xfrm>
            <a:off x="3246120" y="2880360"/>
            <a:ext cx="2697480" cy="1554480"/>
          </a:xfrm>
          <a:prstGeom prst="roundRect">
            <a:avLst>
              <a:gd name="adj" fmla="val 4706"/>
            </a:avLst>
          </a:prstGeom>
          <a:solidFill>
            <a:srgbClr val="F3EFEA"/>
          </a:solidFill>
          <a:ln w="12700">
            <a:solidFill>
              <a:srgbClr val="F3EFEA"/>
            </a:solidFill>
            <a:prstDash val="solid"/>
          </a:ln>
        </p:spPr>
      </p:sp>
      <p:pic>
        <p:nvPicPr>
          <p:cNvPr id="20" name="anim 22-language mentor icon" descr="preencoded.png">    </p:cNvPr>
          <p:cNvPicPr>
            <a:picLocks noChangeAspect="1"/>
          </p:cNvPicPr>
          <p:nvPr/>
        </p:nvPicPr>
        <p:blipFill>
          <a:blip r:embed="rId5"/>
          <a:stretch>
            <a:fillRect/>
          </a:stretch>
        </p:blipFill>
        <p:spPr>
          <a:xfrm>
            <a:off x="3410712" y="3035808"/>
            <a:ext cx="237744" cy="237744"/>
          </a:xfrm>
          <a:prstGeom prst="rect">
            <a:avLst/>
          </a:prstGeom>
        </p:spPr>
      </p:pic>
      <p:sp>
        <p:nvSpPr>
          <p:cNvPr id="21" name="anim 22-language mentor"/>
          <p:cNvSpPr txBox="1"/>
          <p:nvPr/>
        </p:nvSpPr>
        <p:spPr>
          <a:xfrm>
            <a:off x="3410712" y="333756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22-language mentor</a:t>
            </a:r>
            <a:endParaRPr lang="en-US" sz="1200" dirty="0"/>
          </a:p>
        </p:txBody>
      </p:sp>
      <p:sp>
        <p:nvSpPr>
          <p:cNvPr id="22" name="anim 22-language mentor text"/>
          <p:cNvSpPr txBox="1"/>
          <p:nvPr/>
        </p:nvSpPr>
        <p:spPr>
          <a:xfrm>
            <a:off x="3410712" y="3630168"/>
            <a:ext cx="2368296" cy="685800"/>
          </a:xfrm>
          <a:prstGeom prst="rect">
            <a:avLst/>
          </a:prstGeom>
          <a:noFill/>
          <a:ln/>
        </p:spPr>
        <p:txBody>
          <a:bodyPr wrap="square" lIns="0" tIns="0" rIns="0" bIns="0" rtlCol="0" anchor="t"/>
          <a:lstStyle/>
          <a:p>
            <a:pPr indent="0" marL="0">
              <a:buNone/>
            </a:pPr>
            <a:r>
              <a:rPr lang="en-US" sz="1000" dirty="0">
                <a:solidFill>
                  <a:srgbClr val="1A1A1A"/>
                </a:solidFill>
              </a:rPr>
              <a:t>Replies in the shopkeeper’s language and script; mixed Hinglish stays Hinglish.</a:t>
            </a:r>
            <a:endParaRPr lang="en-US" sz="1000" dirty="0"/>
          </a:p>
        </p:txBody>
      </p:sp>
      <p:sp>
        <p:nvSpPr>
          <p:cNvPr id="23" name="Shape 16"/>
          <p:cNvSpPr/>
          <p:nvPr/>
        </p:nvSpPr>
        <p:spPr>
          <a:xfrm>
            <a:off x="6080760" y="2880360"/>
            <a:ext cx="2697480" cy="1554480"/>
          </a:xfrm>
          <a:prstGeom prst="roundRect">
            <a:avLst>
              <a:gd name="adj" fmla="val 4706"/>
            </a:avLst>
          </a:prstGeom>
          <a:solidFill>
            <a:srgbClr val="F3EFEA"/>
          </a:solidFill>
          <a:ln w="12700">
            <a:solidFill>
              <a:srgbClr val="F3EFEA"/>
            </a:solidFill>
            <a:prstDash val="solid"/>
          </a:ln>
        </p:spPr>
      </p:sp>
      <p:pic>
        <p:nvPicPr>
          <p:cNvPr id="24" name="anim Evening hisaab &amp; feedback icon" descr="preencoded.png">    </p:cNvPr>
          <p:cNvPicPr>
            <a:picLocks noChangeAspect="1"/>
          </p:cNvPicPr>
          <p:nvPr/>
        </p:nvPicPr>
        <p:blipFill>
          <a:blip r:embed="rId6"/>
          <a:stretch>
            <a:fillRect/>
          </a:stretch>
        </p:blipFill>
        <p:spPr>
          <a:xfrm>
            <a:off x="6245352" y="3035808"/>
            <a:ext cx="237744" cy="237744"/>
          </a:xfrm>
          <a:prstGeom prst="rect">
            <a:avLst/>
          </a:prstGeom>
        </p:spPr>
      </p:pic>
      <p:sp>
        <p:nvSpPr>
          <p:cNvPr id="25" name="anim Evening hisaab &amp;amp; feedback"/>
          <p:cNvSpPr txBox="1"/>
          <p:nvPr/>
        </p:nvSpPr>
        <p:spPr>
          <a:xfrm>
            <a:off x="6245352" y="333756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Evening hisaab &amp; feedback</a:t>
            </a:r>
            <a:endParaRPr lang="en-US" sz="1200" dirty="0"/>
          </a:p>
        </p:txBody>
      </p:sp>
      <p:sp>
        <p:nvSpPr>
          <p:cNvPr id="26" name="anim Evening hisaab &amp;amp; feedback text"/>
          <p:cNvSpPr txBox="1"/>
          <p:nvPr/>
        </p:nvSpPr>
        <p:spPr>
          <a:xfrm>
            <a:off x="6245352" y="3630168"/>
            <a:ext cx="2368296" cy="685800"/>
          </a:xfrm>
          <a:prstGeom prst="rect">
            <a:avLst/>
          </a:prstGeom>
          <a:noFill/>
          <a:ln/>
        </p:spPr>
        <p:txBody>
          <a:bodyPr wrap="square" lIns="0" tIns="0" rIns="0" bIns="0" rtlCol="0" anchor="t"/>
          <a:lstStyle/>
          <a:p>
            <a:pPr indent="0" marL="0">
              <a:buNone/>
            </a:pPr>
            <a:r>
              <a:rPr lang="en-US" sz="1000" dirty="0">
                <a:solidFill>
                  <a:srgbClr val="1A1A1A"/>
                </a:solidFill>
              </a:rPr>
              <a:t>What sold, what is low, what to order tomorrow — and a thumbs-up or down that reaches the team.</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25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275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300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00"/>
                                        <p:tgtEl>
                                          <p:spTgt spid="20"/>
                                        </p:tgtEl>
                                      </p:cBhvr>
                                    </p:animEffect>
                                  </p:childTnLst>
                                </p:cTn>
                              </p:par>
                              <p:par>
                                <p:cTn id="42" presetID="10" presetClass="entr" presetSubtype="0" fill="hold" grpId="0" nodeType="withEffect">
                                  <p:stCondLst>
                                    <p:cond delay="325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par>
                                <p:cTn id="45" presetID="10" presetClass="entr" presetSubtype="0" fill="hold" grpId="0" nodeType="withEffect">
                                  <p:stCondLst>
                                    <p:cond delay="350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par>
                                <p:cTn id="48" presetID="10" presetClass="entr" presetSubtype="0" fill="hold" grpId="0" nodeType="withEffect">
                                  <p:stCondLst>
                                    <p:cond delay="375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400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425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Process flow and use cases</a:t>
            </a:r>
            <a:endParaRPr lang="en-US" sz="2600" dirty="0"/>
          </a:p>
        </p:txBody>
      </p:sp>
      <p:sp>
        <p:nvSpPr>
          <p:cNvPr id="3" name="Shape 1"/>
          <p:cNvSpPr/>
          <p:nvPr/>
        </p:nvSpPr>
        <p:spPr>
          <a:xfrm>
            <a:off x="411480" y="1188720"/>
            <a:ext cx="1481328" cy="1325880"/>
          </a:xfrm>
          <a:prstGeom prst="roundRect">
            <a:avLst>
              <a:gd name="adj" fmla="val 5517"/>
            </a:avLst>
          </a:prstGeom>
          <a:solidFill>
            <a:srgbClr val="F3EFEA"/>
          </a:solidFill>
          <a:ln w="12700">
            <a:solidFill>
              <a:srgbClr val="F3EFEA"/>
            </a:solidFill>
            <a:prstDash val="solid"/>
          </a:ln>
        </p:spPr>
      </p:sp>
      <p:sp>
        <p:nvSpPr>
          <p:cNvPr id="4" name="Text 2"/>
          <p:cNvSpPr txBox="1"/>
          <p:nvPr/>
        </p:nvSpPr>
        <p:spPr>
          <a:xfrm>
            <a:off x="548640"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1</a:t>
            </a:r>
            <a:endParaRPr lang="en-US" sz="1000" dirty="0"/>
          </a:p>
        </p:txBody>
      </p:sp>
      <p:sp>
        <p:nvSpPr>
          <p:cNvPr id="5" name="anim step head 0"/>
          <p:cNvSpPr txBox="1"/>
          <p:nvPr/>
        </p:nvSpPr>
        <p:spPr>
          <a:xfrm>
            <a:off x="548640" y="1481328"/>
            <a:ext cx="1234440" cy="274320"/>
          </a:xfrm>
          <a:prstGeom prst="rect">
            <a:avLst/>
          </a:prstGeom>
          <a:noFill/>
          <a:ln/>
        </p:spPr>
        <p:txBody>
          <a:bodyPr wrap="square" lIns="0" tIns="0" rIns="0" bIns="0" rtlCol="0" anchor="t"/>
          <a:lstStyle/>
          <a:p>
            <a:pPr indent="0" marL="0">
              <a:buNone/>
            </a:pPr>
            <a:r>
              <a:rPr lang="en-US" sz="1050" b="1" dirty="0">
                <a:solidFill>
                  <a:srgbClr val="1A1A1A"/>
                </a:solidFill>
              </a:rPr>
              <a:t>Shopkeeper</a:t>
            </a:r>
            <a:endParaRPr lang="en-US" sz="1050" dirty="0"/>
          </a:p>
        </p:txBody>
      </p:sp>
      <p:sp>
        <p:nvSpPr>
          <p:cNvPr id="6" name="anim step text 0"/>
          <p:cNvSpPr txBox="1"/>
          <p:nvPr/>
        </p:nvSpPr>
        <p:spPr>
          <a:xfrm>
            <a:off x="548640" y="1755648"/>
            <a:ext cx="1234440" cy="731520"/>
          </a:xfrm>
          <a:prstGeom prst="rect">
            <a:avLst/>
          </a:prstGeom>
          <a:noFill/>
          <a:ln/>
        </p:spPr>
        <p:txBody>
          <a:bodyPr wrap="square" lIns="0" tIns="0" rIns="0" bIns="0" rtlCol="0" anchor="t"/>
          <a:lstStyle/>
          <a:p>
            <a:pPr indent="0" marL="0">
              <a:buNone/>
            </a:pPr>
            <a:r>
              <a:rPr lang="en-US" sz="850" dirty="0">
                <a:solidFill>
                  <a:srgbClr val="1A1A1A"/>
                </a:solidFill>
              </a:rPr>
              <a:t>Shelf photo, voice note or a typed line, in any language</a:t>
            </a:r>
            <a:endParaRPr lang="en-US" sz="850" dirty="0"/>
          </a:p>
        </p:txBody>
      </p:sp>
      <p:sp>
        <p:nvSpPr>
          <p:cNvPr id="7" name="Shape 5"/>
          <p:cNvSpPr/>
          <p:nvPr/>
        </p:nvSpPr>
        <p:spPr>
          <a:xfrm>
            <a:off x="1911096" y="1764792"/>
            <a:ext cx="182880" cy="182880"/>
          </a:xfrm>
          <a:prstGeom prst="rightArrow">
            <a:avLst/>
          </a:prstGeom>
          <a:solidFill>
            <a:srgbClr val="E8742B"/>
          </a:solidFill>
          <a:ln w="12700">
            <a:solidFill>
              <a:srgbClr val="E8742B"/>
            </a:solidFill>
            <a:prstDash val="solid"/>
          </a:ln>
        </p:spPr>
      </p:sp>
      <p:sp>
        <p:nvSpPr>
          <p:cNvPr id="8" name="Shape 6"/>
          <p:cNvSpPr/>
          <p:nvPr/>
        </p:nvSpPr>
        <p:spPr>
          <a:xfrm>
            <a:off x="2112264" y="1188720"/>
            <a:ext cx="1481328" cy="1325880"/>
          </a:xfrm>
          <a:prstGeom prst="roundRect">
            <a:avLst>
              <a:gd name="adj" fmla="val 5517"/>
            </a:avLst>
          </a:prstGeom>
          <a:solidFill>
            <a:srgbClr val="F3EFEA"/>
          </a:solidFill>
          <a:ln w="12700">
            <a:solidFill>
              <a:srgbClr val="F3EFEA"/>
            </a:solidFill>
            <a:prstDash val="solid"/>
          </a:ln>
        </p:spPr>
      </p:sp>
      <p:sp>
        <p:nvSpPr>
          <p:cNvPr id="9" name="Text 7"/>
          <p:cNvSpPr txBox="1"/>
          <p:nvPr/>
        </p:nvSpPr>
        <p:spPr>
          <a:xfrm>
            <a:off x="2249424"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2</a:t>
            </a:r>
            <a:endParaRPr lang="en-US" sz="1000" dirty="0"/>
          </a:p>
        </p:txBody>
      </p:sp>
      <p:sp>
        <p:nvSpPr>
          <p:cNvPr id="10" name="anim step head 1"/>
          <p:cNvSpPr txBox="1"/>
          <p:nvPr/>
        </p:nvSpPr>
        <p:spPr>
          <a:xfrm>
            <a:off x="2249424" y="1481328"/>
            <a:ext cx="1234440" cy="274320"/>
          </a:xfrm>
          <a:prstGeom prst="rect">
            <a:avLst/>
          </a:prstGeom>
          <a:noFill/>
          <a:ln/>
        </p:spPr>
        <p:txBody>
          <a:bodyPr wrap="square" lIns="0" tIns="0" rIns="0" bIns="0" rtlCol="0" anchor="t"/>
          <a:lstStyle/>
          <a:p>
            <a:pPr indent="0" marL="0">
              <a:buNone/>
            </a:pPr>
            <a:r>
              <a:rPr lang="en-US" sz="1050" b="1" dirty="0">
                <a:solidFill>
                  <a:srgbClr val="1A1A1A"/>
                </a:solidFill>
              </a:rPr>
              <a:t>Cloud Run API</a:t>
            </a:r>
            <a:endParaRPr lang="en-US" sz="1050" dirty="0"/>
          </a:p>
        </p:txBody>
      </p:sp>
      <p:sp>
        <p:nvSpPr>
          <p:cNvPr id="11" name="anim step text 1"/>
          <p:cNvSpPr txBox="1"/>
          <p:nvPr/>
        </p:nvSpPr>
        <p:spPr>
          <a:xfrm>
            <a:off x="2249424" y="1755648"/>
            <a:ext cx="1234440" cy="731520"/>
          </a:xfrm>
          <a:prstGeom prst="rect">
            <a:avLst/>
          </a:prstGeom>
          <a:noFill/>
          <a:ln/>
        </p:spPr>
        <p:txBody>
          <a:bodyPr wrap="square" lIns="0" tIns="0" rIns="0" bIns="0" rtlCol="0" anchor="t"/>
          <a:lstStyle/>
          <a:p>
            <a:pPr indent="0" marL="0">
              <a:buNone/>
            </a:pPr>
            <a:r>
              <a:rPr lang="en-US" sz="850" dirty="0">
                <a:solidFill>
                  <a:srgbClr val="1A1A1A"/>
                </a:solidFill>
              </a:rPr>
              <a:t>FastAPI service; one prompt per task with a JSON response schema</a:t>
            </a:r>
            <a:endParaRPr lang="en-US" sz="850" dirty="0"/>
          </a:p>
        </p:txBody>
      </p:sp>
      <p:sp>
        <p:nvSpPr>
          <p:cNvPr id="12" name="Shape 10"/>
          <p:cNvSpPr/>
          <p:nvPr/>
        </p:nvSpPr>
        <p:spPr>
          <a:xfrm>
            <a:off x="3611880" y="1764792"/>
            <a:ext cx="182880" cy="182880"/>
          </a:xfrm>
          <a:prstGeom prst="rightArrow">
            <a:avLst/>
          </a:prstGeom>
          <a:solidFill>
            <a:srgbClr val="E8742B"/>
          </a:solidFill>
          <a:ln w="12700">
            <a:solidFill>
              <a:srgbClr val="E8742B"/>
            </a:solidFill>
            <a:prstDash val="solid"/>
          </a:ln>
        </p:spPr>
      </p:sp>
      <p:sp>
        <p:nvSpPr>
          <p:cNvPr id="13" name="Shape 11"/>
          <p:cNvSpPr/>
          <p:nvPr/>
        </p:nvSpPr>
        <p:spPr>
          <a:xfrm>
            <a:off x="3813048" y="1188720"/>
            <a:ext cx="1481328" cy="1325880"/>
          </a:xfrm>
          <a:prstGeom prst="roundRect">
            <a:avLst>
              <a:gd name="adj" fmla="val 5517"/>
            </a:avLst>
          </a:prstGeom>
          <a:solidFill>
            <a:srgbClr val="F3EFEA"/>
          </a:solidFill>
          <a:ln w="12700">
            <a:solidFill>
              <a:srgbClr val="F3EFEA"/>
            </a:solidFill>
            <a:prstDash val="solid"/>
          </a:ln>
        </p:spPr>
      </p:sp>
      <p:sp>
        <p:nvSpPr>
          <p:cNvPr id="14" name="Text 12"/>
          <p:cNvSpPr txBox="1"/>
          <p:nvPr/>
        </p:nvSpPr>
        <p:spPr>
          <a:xfrm>
            <a:off x="3950208"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3</a:t>
            </a:r>
            <a:endParaRPr lang="en-US" sz="1000" dirty="0"/>
          </a:p>
        </p:txBody>
      </p:sp>
      <p:sp>
        <p:nvSpPr>
          <p:cNvPr id="15" name="anim step head 2"/>
          <p:cNvSpPr txBox="1"/>
          <p:nvPr/>
        </p:nvSpPr>
        <p:spPr>
          <a:xfrm>
            <a:off x="3950208" y="1481328"/>
            <a:ext cx="1234440" cy="274320"/>
          </a:xfrm>
          <a:prstGeom prst="rect">
            <a:avLst/>
          </a:prstGeom>
          <a:noFill/>
          <a:ln/>
        </p:spPr>
        <p:txBody>
          <a:bodyPr wrap="square" lIns="0" tIns="0" rIns="0" bIns="0" rtlCol="0" anchor="t"/>
          <a:lstStyle/>
          <a:p>
            <a:pPr indent="0" marL="0">
              <a:buNone/>
            </a:pPr>
            <a:r>
              <a:rPr lang="en-US" sz="1050" b="1" dirty="0">
                <a:solidFill>
                  <a:srgbClr val="1A1A1A"/>
                </a:solidFill>
              </a:rPr>
              <a:t>Gemini 3.8 Flash</a:t>
            </a:r>
            <a:endParaRPr lang="en-US" sz="1050" dirty="0"/>
          </a:p>
        </p:txBody>
      </p:sp>
      <p:sp>
        <p:nvSpPr>
          <p:cNvPr id="16" name="anim step text 2"/>
          <p:cNvSpPr txBox="1"/>
          <p:nvPr/>
        </p:nvSpPr>
        <p:spPr>
          <a:xfrm>
            <a:off x="3950208" y="1755648"/>
            <a:ext cx="1234440" cy="731520"/>
          </a:xfrm>
          <a:prstGeom prst="rect">
            <a:avLst/>
          </a:prstGeom>
          <a:noFill/>
          <a:ln/>
        </p:spPr>
        <p:txBody>
          <a:bodyPr wrap="square" lIns="0" tIns="0" rIns="0" bIns="0" rtlCol="0" anchor="t"/>
          <a:lstStyle/>
          <a:p>
            <a:pPr indent="0" marL="0">
              <a:buNone/>
            </a:pPr>
            <a:r>
              <a:rPr lang="en-US" sz="850" dirty="0">
                <a:solidFill>
                  <a:srgbClr val="1A1A1A"/>
                </a:solidFill>
              </a:rPr>
              <a:t>Vertex AI; reads photos, audio and Indic text with the catalogue in context</a:t>
            </a:r>
            <a:endParaRPr lang="en-US" sz="850" dirty="0"/>
          </a:p>
        </p:txBody>
      </p:sp>
      <p:sp>
        <p:nvSpPr>
          <p:cNvPr id="17" name="Shape 15"/>
          <p:cNvSpPr/>
          <p:nvPr/>
        </p:nvSpPr>
        <p:spPr>
          <a:xfrm>
            <a:off x="5312664" y="1764792"/>
            <a:ext cx="182880" cy="182880"/>
          </a:xfrm>
          <a:prstGeom prst="rightArrow">
            <a:avLst/>
          </a:prstGeom>
          <a:solidFill>
            <a:srgbClr val="E8742B"/>
          </a:solidFill>
          <a:ln w="12700">
            <a:solidFill>
              <a:srgbClr val="E8742B"/>
            </a:solidFill>
            <a:prstDash val="solid"/>
          </a:ln>
        </p:spPr>
      </p:sp>
      <p:sp>
        <p:nvSpPr>
          <p:cNvPr id="18" name="Shape 16"/>
          <p:cNvSpPr/>
          <p:nvPr/>
        </p:nvSpPr>
        <p:spPr>
          <a:xfrm>
            <a:off x="5513832" y="1188720"/>
            <a:ext cx="1481328" cy="1325880"/>
          </a:xfrm>
          <a:prstGeom prst="roundRect">
            <a:avLst>
              <a:gd name="adj" fmla="val 5517"/>
            </a:avLst>
          </a:prstGeom>
          <a:solidFill>
            <a:srgbClr val="F3EFEA"/>
          </a:solidFill>
          <a:ln w="12700">
            <a:solidFill>
              <a:srgbClr val="F3EFEA"/>
            </a:solidFill>
            <a:prstDash val="solid"/>
          </a:ln>
        </p:spPr>
      </p:sp>
      <p:sp>
        <p:nvSpPr>
          <p:cNvPr id="19" name="Text 17"/>
          <p:cNvSpPr txBox="1"/>
          <p:nvPr/>
        </p:nvSpPr>
        <p:spPr>
          <a:xfrm>
            <a:off x="5650992"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4</a:t>
            </a:r>
            <a:endParaRPr lang="en-US" sz="1000" dirty="0"/>
          </a:p>
        </p:txBody>
      </p:sp>
      <p:sp>
        <p:nvSpPr>
          <p:cNvPr id="20" name="anim step head 3"/>
          <p:cNvSpPr txBox="1"/>
          <p:nvPr/>
        </p:nvSpPr>
        <p:spPr>
          <a:xfrm>
            <a:off x="5650992" y="1481328"/>
            <a:ext cx="1234440" cy="274320"/>
          </a:xfrm>
          <a:prstGeom prst="rect">
            <a:avLst/>
          </a:prstGeom>
          <a:noFill/>
          <a:ln/>
        </p:spPr>
        <p:txBody>
          <a:bodyPr wrap="square" lIns="0" tIns="0" rIns="0" bIns="0" rtlCol="0" anchor="t"/>
          <a:lstStyle/>
          <a:p>
            <a:pPr indent="0" marL="0">
              <a:buNone/>
            </a:pPr>
            <a:r>
              <a:rPr lang="en-US" sz="1050" b="1" dirty="0">
                <a:solidFill>
                  <a:srgbClr val="1A1A1A"/>
                </a:solidFill>
              </a:rPr>
              <a:t>BigQuery ML</a:t>
            </a:r>
            <a:endParaRPr lang="en-US" sz="1050" dirty="0"/>
          </a:p>
        </p:txBody>
      </p:sp>
      <p:sp>
        <p:nvSpPr>
          <p:cNvPr id="21" name="anim step text 3"/>
          <p:cNvSpPr txBox="1"/>
          <p:nvPr/>
        </p:nvSpPr>
        <p:spPr>
          <a:xfrm>
            <a:off x="5650992" y="1755648"/>
            <a:ext cx="1234440" cy="731520"/>
          </a:xfrm>
          <a:prstGeom prst="rect">
            <a:avLst/>
          </a:prstGeom>
          <a:noFill/>
          <a:ln/>
        </p:spPr>
        <p:txBody>
          <a:bodyPr wrap="square" lIns="0" tIns="0" rIns="0" bIns="0" rtlCol="0" anchor="t"/>
          <a:lstStyle/>
          <a:p>
            <a:pPr indent="0" marL="0">
              <a:buNone/>
            </a:pPr>
            <a:r>
              <a:rPr lang="en-US" sz="850" dirty="0">
                <a:solidFill>
                  <a:srgbClr val="1A1A1A"/>
                </a:solidFill>
              </a:rPr>
              <a:t>Sales history; ARIMA_PLUS forecast with Indian holidays</a:t>
            </a:r>
            <a:endParaRPr lang="en-US" sz="850" dirty="0"/>
          </a:p>
        </p:txBody>
      </p:sp>
      <p:sp>
        <p:nvSpPr>
          <p:cNvPr id="22" name="Shape 20"/>
          <p:cNvSpPr/>
          <p:nvPr/>
        </p:nvSpPr>
        <p:spPr>
          <a:xfrm>
            <a:off x="7013448" y="1764792"/>
            <a:ext cx="182880" cy="182880"/>
          </a:xfrm>
          <a:prstGeom prst="rightArrow">
            <a:avLst/>
          </a:prstGeom>
          <a:solidFill>
            <a:srgbClr val="E8742B"/>
          </a:solidFill>
          <a:ln w="12700">
            <a:solidFill>
              <a:srgbClr val="E8742B"/>
            </a:solidFill>
            <a:prstDash val="solid"/>
          </a:ln>
        </p:spPr>
      </p:sp>
      <p:sp>
        <p:nvSpPr>
          <p:cNvPr id="23" name="Shape 21"/>
          <p:cNvSpPr/>
          <p:nvPr/>
        </p:nvSpPr>
        <p:spPr>
          <a:xfrm>
            <a:off x="7214616" y="1188720"/>
            <a:ext cx="1481328" cy="1325880"/>
          </a:xfrm>
          <a:prstGeom prst="roundRect">
            <a:avLst>
              <a:gd name="adj" fmla="val 5517"/>
            </a:avLst>
          </a:prstGeom>
          <a:solidFill>
            <a:srgbClr val="1A1A1A"/>
          </a:solidFill>
          <a:ln w="12700">
            <a:solidFill>
              <a:srgbClr val="1A1A1A"/>
            </a:solidFill>
            <a:prstDash val="solid"/>
          </a:ln>
        </p:spPr>
      </p:sp>
      <p:sp>
        <p:nvSpPr>
          <p:cNvPr id="24" name="Text 22"/>
          <p:cNvSpPr txBox="1"/>
          <p:nvPr/>
        </p:nvSpPr>
        <p:spPr>
          <a:xfrm>
            <a:off x="7351776" y="1261872"/>
            <a:ext cx="365760" cy="228600"/>
          </a:xfrm>
          <a:prstGeom prst="rect">
            <a:avLst/>
          </a:prstGeom>
          <a:noFill/>
          <a:ln/>
        </p:spPr>
        <p:txBody>
          <a:bodyPr wrap="square" lIns="0" tIns="0" rIns="0" bIns="0" rtlCol="0" anchor="t"/>
          <a:lstStyle/>
          <a:p>
            <a:pPr indent="0" marL="0">
              <a:buNone/>
            </a:pPr>
            <a:r>
              <a:rPr lang="en-US" sz="1000" b="1" dirty="0">
                <a:solidFill>
                  <a:srgbClr val="E8742B"/>
                </a:solidFill>
              </a:rPr>
              <a:t>5</a:t>
            </a:r>
            <a:endParaRPr lang="en-US" sz="1000" dirty="0"/>
          </a:p>
        </p:txBody>
      </p:sp>
      <p:sp>
        <p:nvSpPr>
          <p:cNvPr id="25" name="anim step head 4"/>
          <p:cNvSpPr txBox="1"/>
          <p:nvPr/>
        </p:nvSpPr>
        <p:spPr>
          <a:xfrm>
            <a:off x="7351776" y="1481328"/>
            <a:ext cx="1234440" cy="274320"/>
          </a:xfrm>
          <a:prstGeom prst="rect">
            <a:avLst/>
          </a:prstGeom>
          <a:noFill/>
          <a:ln/>
        </p:spPr>
        <p:txBody>
          <a:bodyPr wrap="square" lIns="0" tIns="0" rIns="0" bIns="0" rtlCol="0" anchor="t"/>
          <a:lstStyle/>
          <a:p>
            <a:pPr indent="0" marL="0">
              <a:buNone/>
            </a:pPr>
            <a:r>
              <a:rPr lang="en-US" sz="1050" b="1" dirty="0">
                <a:solidFill>
                  <a:srgbClr val="FFFFFF"/>
                </a:solidFill>
              </a:rPr>
              <a:t>Reply</a:t>
            </a:r>
            <a:endParaRPr lang="en-US" sz="1050" dirty="0"/>
          </a:p>
        </p:txBody>
      </p:sp>
      <p:sp>
        <p:nvSpPr>
          <p:cNvPr id="26" name="anim step text 4"/>
          <p:cNvSpPr txBox="1"/>
          <p:nvPr/>
        </p:nvSpPr>
        <p:spPr>
          <a:xfrm>
            <a:off x="7351776" y="1755648"/>
            <a:ext cx="1234440" cy="731520"/>
          </a:xfrm>
          <a:prstGeom prst="rect">
            <a:avLst/>
          </a:prstGeom>
          <a:noFill/>
          <a:ln/>
        </p:spPr>
        <p:txBody>
          <a:bodyPr wrap="square" lIns="0" tIns="0" rIns="0" bIns="0" rtlCol="0" anchor="t"/>
          <a:lstStyle/>
          <a:p>
            <a:pPr indent="0" marL="0">
              <a:buNone/>
            </a:pPr>
            <a:r>
              <a:rPr lang="en-US" sz="850" dirty="0">
                <a:solidFill>
                  <a:srgbClr val="E6E6E6"/>
                </a:solidFill>
              </a:rPr>
              <a:t>Stock update, forecast or order draft, in their language, with Undo</a:t>
            </a:r>
            <a:endParaRPr lang="en-US" sz="850" dirty="0"/>
          </a:p>
        </p:txBody>
      </p:sp>
      <p:sp>
        <p:nvSpPr>
          <p:cNvPr id="27" name="Text 25"/>
          <p:cNvSpPr txBox="1"/>
          <p:nvPr/>
        </p:nvSpPr>
        <p:spPr>
          <a:xfrm>
            <a:off x="411480" y="2697480"/>
            <a:ext cx="3657600" cy="274320"/>
          </a:xfrm>
          <a:prstGeom prst="rect">
            <a:avLst/>
          </a:prstGeom>
          <a:noFill/>
          <a:ln/>
        </p:spPr>
        <p:txBody>
          <a:bodyPr wrap="square" lIns="0" tIns="0" rIns="0" bIns="0" rtlCol="0" anchor="t"/>
          <a:lstStyle/>
          <a:p>
            <a:pPr indent="0" marL="0">
              <a:buNone/>
            </a:pPr>
            <a:r>
              <a:rPr lang="en-US" sz="1100" b="1" dirty="0">
                <a:solidFill>
                  <a:srgbClr val="1A1A1A"/>
                </a:solidFill>
              </a:rPr>
              <a:t>A shopkeeper’s day</a:t>
            </a:r>
            <a:endParaRPr lang="en-US" sz="1100" dirty="0"/>
          </a:p>
        </p:txBody>
      </p:sp>
      <p:sp>
        <p:nvSpPr>
          <p:cNvPr id="28" name="Shape 26"/>
          <p:cNvSpPr/>
          <p:nvPr/>
        </p:nvSpPr>
        <p:spPr>
          <a:xfrm>
            <a:off x="411480" y="3017520"/>
            <a:ext cx="2697480" cy="1417320"/>
          </a:xfrm>
          <a:prstGeom prst="roundRect">
            <a:avLst>
              <a:gd name="adj" fmla="val 5161"/>
            </a:avLst>
          </a:prstGeom>
          <a:solidFill>
            <a:srgbClr val="2E6B4E"/>
          </a:solidFill>
          <a:ln w="12700">
            <a:solidFill>
              <a:srgbClr val="2E6B4E"/>
            </a:solidFill>
            <a:prstDash val="solid"/>
          </a:ln>
        </p:spPr>
      </p:sp>
      <p:sp>
        <p:nvSpPr>
          <p:cNvPr id="29" name="anim day head 0"/>
          <p:cNvSpPr txBox="1"/>
          <p:nvPr/>
        </p:nvSpPr>
        <p:spPr>
          <a:xfrm>
            <a:off x="576072" y="3127248"/>
            <a:ext cx="2377440" cy="274320"/>
          </a:xfrm>
          <a:prstGeom prst="rect">
            <a:avLst/>
          </a:prstGeom>
          <a:noFill/>
          <a:ln/>
        </p:spPr>
        <p:txBody>
          <a:bodyPr wrap="square" lIns="0" tIns="0" rIns="0" bIns="0" rtlCol="0" anchor="t"/>
          <a:lstStyle/>
          <a:p>
            <a:pPr indent="0" marL="0">
              <a:buNone/>
            </a:pPr>
            <a:r>
              <a:rPr lang="en-US" sz="1050" b="1" dirty="0">
                <a:solidFill>
                  <a:srgbClr val="FFFFFF"/>
                </a:solidFill>
              </a:rPr>
              <a:t>9 am · Morning</a:t>
            </a:r>
            <a:endParaRPr lang="en-US" sz="1050" dirty="0"/>
          </a:p>
        </p:txBody>
      </p:sp>
      <p:sp>
        <p:nvSpPr>
          <p:cNvPr id="30" name="anim day text 0"/>
          <p:cNvSpPr txBox="1"/>
          <p:nvPr/>
        </p:nvSpPr>
        <p:spPr>
          <a:xfrm>
            <a:off x="576072" y="3419856"/>
            <a:ext cx="2377440" cy="960120"/>
          </a:xfrm>
          <a:prstGeom prst="rect">
            <a:avLst/>
          </a:prstGeom>
          <a:noFill/>
          <a:ln/>
        </p:spPr>
        <p:txBody>
          <a:bodyPr wrap="square" lIns="0" tIns="0" rIns="0" bIns="0" rtlCol="0" anchor="t"/>
          <a:lstStyle/>
          <a:p>
            <a:pPr indent="0" marL="0">
              <a:buNone/>
            </a:pPr>
            <a:r>
              <a:rPr lang="en-US" sz="950" dirty="0">
                <a:solidFill>
                  <a:srgbClr val="FFFFFF"/>
                </a:solidFill>
              </a:rPr>
              <a:t>Shelf check → “Maggi 6 packet, kam hai (reorder 12). Update karoon?” → Haan</a:t>
            </a:r>
            <a:endParaRPr lang="en-US" sz="950" dirty="0"/>
          </a:p>
        </p:txBody>
      </p:sp>
      <p:sp>
        <p:nvSpPr>
          <p:cNvPr id="31" name="Shape 29"/>
          <p:cNvSpPr/>
          <p:nvPr/>
        </p:nvSpPr>
        <p:spPr>
          <a:xfrm>
            <a:off x="3246120" y="3017520"/>
            <a:ext cx="2697480" cy="1417320"/>
          </a:xfrm>
          <a:prstGeom prst="roundRect">
            <a:avLst>
              <a:gd name="adj" fmla="val 5161"/>
            </a:avLst>
          </a:prstGeom>
          <a:solidFill>
            <a:srgbClr val="2E6B4E"/>
          </a:solidFill>
          <a:ln w="12700">
            <a:solidFill>
              <a:srgbClr val="2E6B4E"/>
            </a:solidFill>
            <a:prstDash val="solid"/>
          </a:ln>
        </p:spPr>
      </p:sp>
      <p:sp>
        <p:nvSpPr>
          <p:cNvPr id="32" name="anim day head 1"/>
          <p:cNvSpPr txBox="1"/>
          <p:nvPr/>
        </p:nvSpPr>
        <p:spPr>
          <a:xfrm>
            <a:off x="3410712" y="3127248"/>
            <a:ext cx="2377440" cy="274320"/>
          </a:xfrm>
          <a:prstGeom prst="rect">
            <a:avLst/>
          </a:prstGeom>
          <a:noFill/>
          <a:ln/>
        </p:spPr>
        <p:txBody>
          <a:bodyPr wrap="square" lIns="0" tIns="0" rIns="0" bIns="0" rtlCol="0" anchor="t"/>
          <a:lstStyle/>
          <a:p>
            <a:pPr indent="0" marL="0">
              <a:buNone/>
            </a:pPr>
            <a:r>
              <a:rPr lang="en-US" sz="1050" b="1" dirty="0">
                <a:solidFill>
                  <a:srgbClr val="FFFFFF"/>
                </a:solidFill>
              </a:rPr>
              <a:t>1 pm · Daytime</a:t>
            </a:r>
            <a:endParaRPr lang="en-US" sz="1050" dirty="0"/>
          </a:p>
        </p:txBody>
      </p:sp>
      <p:sp>
        <p:nvSpPr>
          <p:cNvPr id="33" name="anim day text 1"/>
          <p:cNvSpPr txBox="1"/>
          <p:nvPr/>
        </p:nvSpPr>
        <p:spPr>
          <a:xfrm>
            <a:off x="3410712" y="3419856"/>
            <a:ext cx="2377440" cy="960120"/>
          </a:xfrm>
          <a:prstGeom prst="rect">
            <a:avLst/>
          </a:prstGeom>
          <a:noFill/>
          <a:ln/>
        </p:spPr>
        <p:txBody>
          <a:bodyPr wrap="square" lIns="0" tIns="0" rIns="0" bIns="0" rtlCol="0" anchor="t"/>
          <a:lstStyle/>
          <a:p>
            <a:pPr indent="0" marL="0">
              <a:buNone/>
            </a:pPr>
            <a:r>
              <a:rPr lang="en-US" sz="950" dirty="0">
                <a:solidFill>
                  <a:srgbClr val="FFFFFF"/>
                </a:solidFill>
              </a:rPr>
              <a:t>Voice note “Kal Parle-G ke 3 carton aaye” → “Samjha: 3 carton = 72 packet, ab 114”</a:t>
            </a:r>
            <a:endParaRPr lang="en-US" sz="950" dirty="0"/>
          </a:p>
        </p:txBody>
      </p:sp>
      <p:sp>
        <p:nvSpPr>
          <p:cNvPr id="34" name="Shape 32"/>
          <p:cNvSpPr/>
          <p:nvPr/>
        </p:nvSpPr>
        <p:spPr>
          <a:xfrm>
            <a:off x="6080760" y="3017520"/>
            <a:ext cx="2697480" cy="1417320"/>
          </a:xfrm>
          <a:prstGeom prst="roundRect">
            <a:avLst>
              <a:gd name="adj" fmla="val 5161"/>
            </a:avLst>
          </a:prstGeom>
          <a:solidFill>
            <a:srgbClr val="2E6B4E"/>
          </a:solidFill>
          <a:ln w="12700">
            <a:solidFill>
              <a:srgbClr val="2E6B4E"/>
            </a:solidFill>
            <a:prstDash val="solid"/>
          </a:ln>
        </p:spPr>
      </p:sp>
      <p:sp>
        <p:nvSpPr>
          <p:cNvPr id="35" name="anim day head 2"/>
          <p:cNvSpPr txBox="1"/>
          <p:nvPr/>
        </p:nvSpPr>
        <p:spPr>
          <a:xfrm>
            <a:off x="6245352" y="3127248"/>
            <a:ext cx="2377440" cy="274320"/>
          </a:xfrm>
          <a:prstGeom prst="rect">
            <a:avLst/>
          </a:prstGeom>
          <a:noFill/>
          <a:ln/>
        </p:spPr>
        <p:txBody>
          <a:bodyPr wrap="square" lIns="0" tIns="0" rIns="0" bIns="0" rtlCol="0" anchor="t"/>
          <a:lstStyle/>
          <a:p>
            <a:pPr indent="0" marL="0">
              <a:buNone/>
            </a:pPr>
            <a:r>
              <a:rPr lang="en-US" sz="1050" b="1" dirty="0">
                <a:solidFill>
                  <a:srgbClr val="FFFFFF"/>
                </a:solidFill>
              </a:rPr>
              <a:t>9 pm · Evening</a:t>
            </a:r>
            <a:endParaRPr lang="en-US" sz="1050" dirty="0"/>
          </a:p>
        </p:txBody>
      </p:sp>
      <p:sp>
        <p:nvSpPr>
          <p:cNvPr id="36" name="anim day text 2"/>
          <p:cNvSpPr txBox="1"/>
          <p:nvPr/>
        </p:nvSpPr>
        <p:spPr>
          <a:xfrm>
            <a:off x="6245352" y="3419856"/>
            <a:ext cx="2377440" cy="960120"/>
          </a:xfrm>
          <a:prstGeom prst="rect">
            <a:avLst/>
          </a:prstGeom>
          <a:noFill/>
          <a:ln/>
        </p:spPr>
        <p:txBody>
          <a:bodyPr wrap="square" lIns="0" tIns="0" rIns="0" bIns="0" rtlCol="0" anchor="t"/>
          <a:lstStyle/>
          <a:p>
            <a:pPr indent="0" marL="0">
              <a:buNone/>
            </a:pPr>
            <a:r>
              <a:rPr lang="en-US" sz="950" dirty="0">
                <a:solidFill>
                  <a:srgbClr val="FFFFFF"/>
                </a:solidFill>
              </a:rPr>
              <a:t>Hisaab: aaj ki bikri, kam stock, and “Diwali week demand ~1.8x — Parle-G 264 packet mangao?” → Order banao</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00"/>
                                        <p:tgtEl>
                                          <p:spTgt spid="11"/>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par>
                                <p:cTn id="33" presetID="10" presetClass="entr" presetSubtype="0" fill="hold" grpId="0" nodeType="withEffect">
                                  <p:stCondLst>
                                    <p:cond delay="250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00"/>
                                        <p:tgtEl>
                                          <p:spTgt spid="29"/>
                                        </p:tgtEl>
                                      </p:cBhvr>
                                    </p:animEffect>
                                  </p:childTnLst>
                                </p:cTn>
                              </p:par>
                              <p:par>
                                <p:cTn id="36" presetID="10" presetClass="entr" presetSubtype="0" fill="hold" grpId="0" nodeType="withEffect">
                                  <p:stCondLst>
                                    <p:cond delay="275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00"/>
                                        <p:tgtEl>
                                          <p:spTgt spid="30"/>
                                        </p:tgtEl>
                                      </p:cBhvr>
                                    </p:animEffect>
                                  </p:childTnLst>
                                </p:cTn>
                              </p:par>
                              <p:par>
                                <p:cTn id="39" presetID="10" presetClass="entr" presetSubtype="0" fill="hold" grpId="0" nodeType="withEffect">
                                  <p:stCondLst>
                                    <p:cond delay="300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400"/>
                                        <p:tgtEl>
                                          <p:spTgt spid="32"/>
                                        </p:tgtEl>
                                      </p:cBhvr>
                                    </p:animEffect>
                                  </p:childTnLst>
                                </p:cTn>
                              </p:par>
                              <p:par>
                                <p:cTn id="42" presetID="10" presetClass="entr" presetSubtype="0" fill="hold" grpId="0" nodeType="withEffect">
                                  <p:stCondLst>
                                    <p:cond delay="325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00"/>
                                        <p:tgtEl>
                                          <p:spTgt spid="33"/>
                                        </p:tgtEl>
                                      </p:cBhvr>
                                    </p:animEffect>
                                  </p:childTnLst>
                                </p:cTn>
                              </p:par>
                              <p:par>
                                <p:cTn id="45" presetID="10" presetClass="entr" presetSubtype="0" fill="hold" grpId="0" nodeType="withEffect">
                                  <p:stCondLst>
                                    <p:cond delay="35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00"/>
                                        <p:tgtEl>
                                          <p:spTgt spid="35"/>
                                        </p:tgtEl>
                                      </p:cBhvr>
                                    </p:animEffect>
                                  </p:childTnLst>
                                </p:cTn>
                              </p:par>
                              <p:par>
                                <p:cTn id="48" presetID="10" presetClass="entr" presetSubtype="0" fill="hold" grpId="0" nodeType="withEffect">
                                  <p:stCondLst>
                                    <p:cond delay="375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Wireframes of the proposed solution</a:t>
            </a:r>
            <a:endParaRPr lang="en-US" sz="2600" dirty="0"/>
          </a:p>
        </p:txBody>
      </p:sp>
      <p:sp>
        <p:nvSpPr>
          <p:cNvPr id="3" name="Text 1"/>
          <p:cNvSpPr txBox="1"/>
          <p:nvPr/>
        </p:nvSpPr>
        <p:spPr>
          <a:xfrm>
            <a:off x="411480" y="1143000"/>
            <a:ext cx="2697480" cy="274320"/>
          </a:xfrm>
          <a:prstGeom prst="rect">
            <a:avLst/>
          </a:prstGeom>
          <a:noFill/>
          <a:ln/>
        </p:spPr>
        <p:txBody>
          <a:bodyPr wrap="square" lIns="0" tIns="0" rIns="0" bIns="0" rtlCol="0" anchor="t"/>
          <a:lstStyle/>
          <a:p>
            <a:pPr indent="0" marL="0">
              <a:buNone/>
            </a:pPr>
            <a:r>
              <a:rPr lang="en-US" sz="1100" b="1" dirty="0">
                <a:solidFill>
                  <a:srgbClr val="1A1A1A"/>
                </a:solidFill>
              </a:rPr>
              <a:t>Morning: shelf check</a:t>
            </a:r>
            <a:endParaRPr lang="en-US" sz="1100" dirty="0"/>
          </a:p>
        </p:txBody>
      </p:sp>
      <p:sp>
        <p:nvSpPr>
          <p:cNvPr id="4" name="Shape 2"/>
          <p:cNvSpPr/>
          <p:nvPr/>
        </p:nvSpPr>
        <p:spPr>
          <a:xfrm>
            <a:off x="822960" y="1463040"/>
            <a:ext cx="1874520" cy="3017520"/>
          </a:xfrm>
          <a:prstGeom prst="roundRect">
            <a:avLst>
              <a:gd name="adj" fmla="val 8780"/>
            </a:avLst>
          </a:prstGeom>
          <a:solidFill>
            <a:srgbClr val="FBF2E6"/>
          </a:solidFill>
          <a:ln w="12700">
            <a:solidFill>
              <a:srgbClr val="D8CFC4"/>
            </a:solidFill>
            <a:prstDash val="solid"/>
          </a:ln>
        </p:spPr>
      </p:sp>
      <p:sp>
        <p:nvSpPr>
          <p:cNvPr id="5" name="Text 3"/>
          <p:cNvSpPr txBox="1"/>
          <p:nvPr/>
        </p:nvSpPr>
        <p:spPr>
          <a:xfrm>
            <a:off x="978408" y="1572768"/>
            <a:ext cx="1554480" cy="228600"/>
          </a:xfrm>
          <a:prstGeom prst="rect">
            <a:avLst/>
          </a:prstGeom>
          <a:noFill/>
          <a:ln/>
        </p:spPr>
        <p:txBody>
          <a:bodyPr wrap="square" lIns="0" tIns="0" rIns="0" bIns="0" rtlCol="0" anchor="t"/>
          <a:lstStyle/>
          <a:p>
            <a:pPr indent="0" marL="0">
              <a:buNone/>
            </a:pPr>
            <a:r>
              <a:rPr lang="en-US" sz="850" b="1" dirty="0">
                <a:solidFill>
                  <a:srgbClr val="E8742B"/>
                </a:solidFill>
              </a:rPr>
              <a:t>Kirana Copilot</a:t>
            </a:r>
            <a:endParaRPr lang="en-US" sz="850" dirty="0"/>
          </a:p>
        </p:txBody>
      </p:sp>
      <p:sp>
        <p:nvSpPr>
          <p:cNvPr id="6" name="Shape 4"/>
          <p:cNvSpPr/>
          <p:nvPr/>
        </p:nvSpPr>
        <p:spPr>
          <a:xfrm>
            <a:off x="978408" y="1874520"/>
            <a:ext cx="1572768" cy="411480"/>
          </a:xfrm>
          <a:prstGeom prst="roundRect">
            <a:avLst>
              <a:gd name="adj" fmla="val 17778"/>
            </a:avLst>
          </a:prstGeom>
          <a:solidFill>
            <a:srgbClr val="EFE6DA"/>
          </a:solidFill>
          <a:ln w="12700">
            <a:solidFill>
              <a:srgbClr val="EFE6DA"/>
            </a:solidFill>
            <a:prstDash val="solid"/>
          </a:ln>
        </p:spPr>
      </p:sp>
      <p:sp>
        <p:nvSpPr>
          <p:cNvPr id="7" name="Text 5"/>
          <p:cNvSpPr txBox="1"/>
          <p:nvPr/>
        </p:nvSpPr>
        <p:spPr>
          <a:xfrm>
            <a:off x="1051560" y="1938528"/>
            <a:ext cx="1417320" cy="320040"/>
          </a:xfrm>
          <a:prstGeom prst="rect">
            <a:avLst/>
          </a:prstGeom>
          <a:noFill/>
          <a:ln/>
        </p:spPr>
        <p:txBody>
          <a:bodyPr wrap="square" lIns="0" tIns="0" rIns="0" bIns="0" rtlCol="0" anchor="t"/>
          <a:lstStyle/>
          <a:p>
            <a:pPr indent="0" marL="0">
              <a:buNone/>
            </a:pPr>
            <a:r>
              <a:rPr lang="en-US" sz="800" dirty="0">
                <a:solidFill>
                  <a:srgbClr val="5F5F5F"/>
                </a:solidFill>
              </a:rPr>
              <a:t>[shelf photo]</a:t>
            </a:r>
            <a:endParaRPr lang="en-US" sz="800" dirty="0"/>
          </a:p>
        </p:txBody>
      </p:sp>
      <p:sp>
        <p:nvSpPr>
          <p:cNvPr id="8" name="Shape 6"/>
          <p:cNvSpPr/>
          <p:nvPr/>
        </p:nvSpPr>
        <p:spPr>
          <a:xfrm>
            <a:off x="978408" y="2377440"/>
            <a:ext cx="1572768" cy="1234440"/>
          </a:xfrm>
          <a:prstGeom prst="roundRect">
            <a:avLst>
              <a:gd name="adj" fmla="val 5926"/>
            </a:avLst>
          </a:prstGeom>
          <a:solidFill>
            <a:srgbClr val="FFFFFF"/>
          </a:solidFill>
          <a:ln w="12700">
            <a:solidFill>
              <a:srgbClr val="FFFFFF"/>
            </a:solidFill>
            <a:prstDash val="solid"/>
          </a:ln>
        </p:spPr>
      </p:sp>
      <p:sp>
        <p:nvSpPr>
          <p:cNvPr id="9" name="anim frame text 0"/>
          <p:cNvSpPr txBox="1"/>
          <p:nvPr/>
        </p:nvSpPr>
        <p:spPr>
          <a:xfrm>
            <a:off x="1051560" y="2450592"/>
            <a:ext cx="1426464" cy="1097280"/>
          </a:xfrm>
          <a:prstGeom prst="rect">
            <a:avLst/>
          </a:prstGeom>
          <a:noFill/>
          <a:ln/>
        </p:spPr>
        <p:txBody>
          <a:bodyPr wrap="square" lIns="0" tIns="0" rIns="0" bIns="0" rtlCol="0" anchor="t"/>
          <a:lstStyle/>
          <a:p>
            <a:pPr indent="0" marL="0">
              <a:buNone/>
            </a:pPr>
            <a:r>
              <a:rPr lang="en-US" sz="850" dirty="0">
                <a:solidFill>
                  <a:srgbClr val="1A1A1A"/>
                </a:solidFill>
              </a:rPr>
              <a:t>Shelf pe dikha: Maggi 6, Parle-G 12, Tata Salt 3. Maggi kam hai (reorder 12). Update karoon?</a:t>
            </a:r>
            <a:endParaRPr lang="en-US" sz="850" dirty="0"/>
          </a:p>
        </p:txBody>
      </p:sp>
      <p:sp>
        <p:nvSpPr>
          <p:cNvPr id="10" name="Shape 8"/>
          <p:cNvSpPr/>
          <p:nvPr/>
        </p:nvSpPr>
        <p:spPr>
          <a:xfrm>
            <a:off x="978408" y="3730752"/>
            <a:ext cx="1572768" cy="347472"/>
          </a:xfrm>
          <a:prstGeom prst="roundRect">
            <a:avLst>
              <a:gd name="adj" fmla="val 50000"/>
            </a:avLst>
          </a:prstGeom>
          <a:solidFill>
            <a:srgbClr val="E8742B"/>
          </a:solidFill>
          <a:ln w="12700">
            <a:solidFill>
              <a:srgbClr val="E8742B"/>
            </a:solidFill>
            <a:prstDash val="solid"/>
          </a:ln>
        </p:spPr>
      </p:sp>
      <p:sp>
        <p:nvSpPr>
          <p:cNvPr id="11" name="anim frame chip 0"/>
          <p:cNvSpPr txBox="1"/>
          <p:nvPr/>
        </p:nvSpPr>
        <p:spPr>
          <a:xfrm>
            <a:off x="978408" y="3730752"/>
            <a:ext cx="1572768" cy="347472"/>
          </a:xfrm>
          <a:prstGeom prst="rect">
            <a:avLst/>
          </a:prstGeom>
          <a:noFill/>
          <a:ln/>
        </p:spPr>
        <p:txBody>
          <a:bodyPr wrap="square" lIns="0" tIns="0" rIns="0" bIns="0" rtlCol="0" anchor="ctr"/>
          <a:lstStyle/>
          <a:p>
            <a:pPr algn="ctr" indent="0" marL="0">
              <a:buNone/>
            </a:pPr>
            <a:r>
              <a:rPr lang="en-US" sz="850" b="1" dirty="0">
                <a:solidFill>
                  <a:srgbClr val="FFFFFF"/>
                </a:solidFill>
              </a:rPr>
              <a:t>Haan, update karo</a:t>
            </a:r>
            <a:endParaRPr lang="en-US" sz="850" dirty="0"/>
          </a:p>
        </p:txBody>
      </p:sp>
      <p:sp>
        <p:nvSpPr>
          <p:cNvPr id="12" name="Text 10"/>
          <p:cNvSpPr txBox="1"/>
          <p:nvPr/>
        </p:nvSpPr>
        <p:spPr>
          <a:xfrm>
            <a:off x="3246120" y="1143000"/>
            <a:ext cx="2697480" cy="274320"/>
          </a:xfrm>
          <a:prstGeom prst="rect">
            <a:avLst/>
          </a:prstGeom>
          <a:noFill/>
          <a:ln/>
        </p:spPr>
        <p:txBody>
          <a:bodyPr wrap="square" lIns="0" tIns="0" rIns="0" bIns="0" rtlCol="0" anchor="t"/>
          <a:lstStyle/>
          <a:p>
            <a:pPr indent="0" marL="0">
              <a:buNone/>
            </a:pPr>
            <a:r>
              <a:rPr lang="en-US" sz="1100" b="1" dirty="0">
                <a:solidFill>
                  <a:srgbClr val="1A1A1A"/>
                </a:solidFill>
              </a:rPr>
              <a:t>Daytime: voice ordering</a:t>
            </a:r>
            <a:endParaRPr lang="en-US" sz="1100" dirty="0"/>
          </a:p>
        </p:txBody>
      </p:sp>
      <p:sp>
        <p:nvSpPr>
          <p:cNvPr id="13" name="Shape 11"/>
          <p:cNvSpPr/>
          <p:nvPr/>
        </p:nvSpPr>
        <p:spPr>
          <a:xfrm>
            <a:off x="3657600" y="1463040"/>
            <a:ext cx="1874520" cy="3017520"/>
          </a:xfrm>
          <a:prstGeom prst="roundRect">
            <a:avLst>
              <a:gd name="adj" fmla="val 8780"/>
            </a:avLst>
          </a:prstGeom>
          <a:solidFill>
            <a:srgbClr val="FBF2E6"/>
          </a:solidFill>
          <a:ln w="12700">
            <a:solidFill>
              <a:srgbClr val="D8CFC4"/>
            </a:solidFill>
            <a:prstDash val="solid"/>
          </a:ln>
        </p:spPr>
      </p:sp>
      <p:sp>
        <p:nvSpPr>
          <p:cNvPr id="14" name="Text 12"/>
          <p:cNvSpPr txBox="1"/>
          <p:nvPr/>
        </p:nvSpPr>
        <p:spPr>
          <a:xfrm>
            <a:off x="3813048" y="1572768"/>
            <a:ext cx="1554480" cy="228600"/>
          </a:xfrm>
          <a:prstGeom prst="rect">
            <a:avLst/>
          </a:prstGeom>
          <a:noFill/>
          <a:ln/>
        </p:spPr>
        <p:txBody>
          <a:bodyPr wrap="square" lIns="0" tIns="0" rIns="0" bIns="0" rtlCol="0" anchor="t"/>
          <a:lstStyle/>
          <a:p>
            <a:pPr indent="0" marL="0">
              <a:buNone/>
            </a:pPr>
            <a:r>
              <a:rPr lang="en-US" sz="850" b="1" dirty="0">
                <a:solidFill>
                  <a:srgbClr val="E8742B"/>
                </a:solidFill>
              </a:rPr>
              <a:t>Kirana Copilot</a:t>
            </a:r>
            <a:endParaRPr lang="en-US" sz="850" dirty="0"/>
          </a:p>
        </p:txBody>
      </p:sp>
      <p:sp>
        <p:nvSpPr>
          <p:cNvPr id="15" name="Shape 13"/>
          <p:cNvSpPr/>
          <p:nvPr/>
        </p:nvSpPr>
        <p:spPr>
          <a:xfrm>
            <a:off x="3813048" y="1874520"/>
            <a:ext cx="1572768" cy="411480"/>
          </a:xfrm>
          <a:prstGeom prst="roundRect">
            <a:avLst>
              <a:gd name="adj" fmla="val 17778"/>
            </a:avLst>
          </a:prstGeom>
          <a:solidFill>
            <a:srgbClr val="EFE6DA"/>
          </a:solidFill>
          <a:ln w="12700">
            <a:solidFill>
              <a:srgbClr val="EFE6DA"/>
            </a:solidFill>
            <a:prstDash val="solid"/>
          </a:ln>
        </p:spPr>
      </p:sp>
      <p:sp>
        <p:nvSpPr>
          <p:cNvPr id="16" name="Text 14"/>
          <p:cNvSpPr txBox="1"/>
          <p:nvPr/>
        </p:nvSpPr>
        <p:spPr>
          <a:xfrm>
            <a:off x="3886200" y="1938528"/>
            <a:ext cx="1417320" cy="320040"/>
          </a:xfrm>
          <a:prstGeom prst="rect">
            <a:avLst/>
          </a:prstGeom>
          <a:noFill/>
          <a:ln/>
        </p:spPr>
        <p:txBody>
          <a:bodyPr wrap="square" lIns="0" tIns="0" rIns="0" bIns="0" rtlCol="0" anchor="t"/>
          <a:lstStyle/>
          <a:p>
            <a:pPr indent="0" marL="0">
              <a:buNone/>
            </a:pPr>
            <a:r>
              <a:rPr lang="en-US" sz="800" dirty="0">
                <a:solidFill>
                  <a:srgbClr val="5F5F5F"/>
                </a:solidFill>
              </a:rPr>
              <a:t>Voice note · 0:06</a:t>
            </a:r>
            <a:endParaRPr lang="en-US" sz="800" dirty="0"/>
          </a:p>
        </p:txBody>
      </p:sp>
      <p:sp>
        <p:nvSpPr>
          <p:cNvPr id="17" name="Shape 15"/>
          <p:cNvSpPr/>
          <p:nvPr/>
        </p:nvSpPr>
        <p:spPr>
          <a:xfrm>
            <a:off x="3813048" y="2377440"/>
            <a:ext cx="1572768" cy="1234440"/>
          </a:xfrm>
          <a:prstGeom prst="roundRect">
            <a:avLst>
              <a:gd name="adj" fmla="val 5926"/>
            </a:avLst>
          </a:prstGeom>
          <a:solidFill>
            <a:srgbClr val="FFFFFF"/>
          </a:solidFill>
          <a:ln w="12700">
            <a:solidFill>
              <a:srgbClr val="FFFFFF"/>
            </a:solidFill>
            <a:prstDash val="solid"/>
          </a:ln>
        </p:spPr>
      </p:sp>
      <p:sp>
        <p:nvSpPr>
          <p:cNvPr id="18" name="anim frame text 1"/>
          <p:cNvSpPr txBox="1"/>
          <p:nvPr/>
        </p:nvSpPr>
        <p:spPr>
          <a:xfrm>
            <a:off x="3886200" y="2450592"/>
            <a:ext cx="1426464" cy="1097280"/>
          </a:xfrm>
          <a:prstGeom prst="rect">
            <a:avLst/>
          </a:prstGeom>
          <a:noFill/>
          <a:ln/>
        </p:spPr>
        <p:txBody>
          <a:bodyPr wrap="square" lIns="0" tIns="0" rIns="0" bIns="0" rtlCol="0" anchor="t"/>
          <a:lstStyle/>
          <a:p>
            <a:pPr indent="0" marL="0">
              <a:buNone/>
            </a:pPr>
            <a:r>
              <a:rPr lang="en-US" sz="850" dirty="0">
                <a:solidFill>
                  <a:srgbClr val="1A1A1A"/>
                </a:solidFill>
              </a:rPr>
              <a:t>Samjha: Parle-G 70g, 3 carton stock mein add kiya. Ab total 114 packet (3 carton = 72 packet).</a:t>
            </a:r>
            <a:endParaRPr lang="en-US" sz="850" dirty="0"/>
          </a:p>
        </p:txBody>
      </p:sp>
      <p:sp>
        <p:nvSpPr>
          <p:cNvPr id="19" name="Shape 17"/>
          <p:cNvSpPr/>
          <p:nvPr/>
        </p:nvSpPr>
        <p:spPr>
          <a:xfrm>
            <a:off x="3813048" y="3730752"/>
            <a:ext cx="1572768" cy="347472"/>
          </a:xfrm>
          <a:prstGeom prst="roundRect">
            <a:avLst>
              <a:gd name="adj" fmla="val 50000"/>
            </a:avLst>
          </a:prstGeom>
          <a:solidFill>
            <a:srgbClr val="E8742B"/>
          </a:solidFill>
          <a:ln w="12700">
            <a:solidFill>
              <a:srgbClr val="E8742B"/>
            </a:solidFill>
            <a:prstDash val="solid"/>
          </a:ln>
        </p:spPr>
      </p:sp>
      <p:sp>
        <p:nvSpPr>
          <p:cNvPr id="20" name="anim frame chip 1"/>
          <p:cNvSpPr txBox="1"/>
          <p:nvPr/>
        </p:nvSpPr>
        <p:spPr>
          <a:xfrm>
            <a:off x="3813048" y="3730752"/>
            <a:ext cx="1572768" cy="347472"/>
          </a:xfrm>
          <a:prstGeom prst="rect">
            <a:avLst/>
          </a:prstGeom>
          <a:noFill/>
          <a:ln/>
        </p:spPr>
        <p:txBody>
          <a:bodyPr wrap="square" lIns="0" tIns="0" rIns="0" bIns="0" rtlCol="0" anchor="ctr"/>
          <a:lstStyle/>
          <a:p>
            <a:pPr algn="ctr" indent="0" marL="0">
              <a:buNone/>
            </a:pPr>
            <a:r>
              <a:rPr lang="en-US" sz="850" b="1" dirty="0">
                <a:solidFill>
                  <a:srgbClr val="FFFFFF"/>
                </a:solidFill>
              </a:rPr>
              <a:t>Undo   ·   Order banao</a:t>
            </a:r>
            <a:endParaRPr lang="en-US" sz="850" dirty="0"/>
          </a:p>
        </p:txBody>
      </p:sp>
      <p:sp>
        <p:nvSpPr>
          <p:cNvPr id="21" name="Text 19"/>
          <p:cNvSpPr txBox="1"/>
          <p:nvPr/>
        </p:nvSpPr>
        <p:spPr>
          <a:xfrm>
            <a:off x="6080760" y="1143000"/>
            <a:ext cx="2697480" cy="274320"/>
          </a:xfrm>
          <a:prstGeom prst="rect">
            <a:avLst/>
          </a:prstGeom>
          <a:noFill/>
          <a:ln/>
        </p:spPr>
        <p:txBody>
          <a:bodyPr wrap="square" lIns="0" tIns="0" rIns="0" bIns="0" rtlCol="0" anchor="t"/>
          <a:lstStyle/>
          <a:p>
            <a:pPr indent="0" marL="0">
              <a:buNone/>
            </a:pPr>
            <a:r>
              <a:rPr lang="en-US" sz="1100" b="1" dirty="0">
                <a:solidFill>
                  <a:srgbClr val="1A1A1A"/>
                </a:solidFill>
              </a:rPr>
              <a:t>Evening: daily hisaab</a:t>
            </a:r>
            <a:endParaRPr lang="en-US" sz="1100" dirty="0"/>
          </a:p>
        </p:txBody>
      </p:sp>
      <p:sp>
        <p:nvSpPr>
          <p:cNvPr id="22" name="Shape 20"/>
          <p:cNvSpPr/>
          <p:nvPr/>
        </p:nvSpPr>
        <p:spPr>
          <a:xfrm>
            <a:off x="6492240" y="1463040"/>
            <a:ext cx="1874520" cy="3017520"/>
          </a:xfrm>
          <a:prstGeom prst="roundRect">
            <a:avLst>
              <a:gd name="adj" fmla="val 8780"/>
            </a:avLst>
          </a:prstGeom>
          <a:solidFill>
            <a:srgbClr val="FBF2E6"/>
          </a:solidFill>
          <a:ln w="12700">
            <a:solidFill>
              <a:srgbClr val="D8CFC4"/>
            </a:solidFill>
            <a:prstDash val="solid"/>
          </a:ln>
        </p:spPr>
      </p:sp>
      <p:sp>
        <p:nvSpPr>
          <p:cNvPr id="23" name="Text 21"/>
          <p:cNvSpPr txBox="1"/>
          <p:nvPr/>
        </p:nvSpPr>
        <p:spPr>
          <a:xfrm>
            <a:off x="6647688" y="1572768"/>
            <a:ext cx="1554480" cy="228600"/>
          </a:xfrm>
          <a:prstGeom prst="rect">
            <a:avLst/>
          </a:prstGeom>
          <a:noFill/>
          <a:ln/>
        </p:spPr>
        <p:txBody>
          <a:bodyPr wrap="square" lIns="0" tIns="0" rIns="0" bIns="0" rtlCol="0" anchor="t"/>
          <a:lstStyle/>
          <a:p>
            <a:pPr indent="0" marL="0">
              <a:buNone/>
            </a:pPr>
            <a:r>
              <a:rPr lang="en-US" sz="850" b="1" dirty="0">
                <a:solidFill>
                  <a:srgbClr val="E8742B"/>
                </a:solidFill>
              </a:rPr>
              <a:t>Kirana Copilot</a:t>
            </a:r>
            <a:endParaRPr lang="en-US" sz="850" dirty="0"/>
          </a:p>
        </p:txBody>
      </p:sp>
      <p:sp>
        <p:nvSpPr>
          <p:cNvPr id="24" name="Shape 22"/>
          <p:cNvSpPr/>
          <p:nvPr/>
        </p:nvSpPr>
        <p:spPr>
          <a:xfrm>
            <a:off x="6647688" y="1874520"/>
            <a:ext cx="1572768" cy="411480"/>
          </a:xfrm>
          <a:prstGeom prst="roundRect">
            <a:avLst>
              <a:gd name="adj" fmla="val 17778"/>
            </a:avLst>
          </a:prstGeom>
          <a:solidFill>
            <a:srgbClr val="EFE6DA"/>
          </a:solidFill>
          <a:ln w="12700">
            <a:solidFill>
              <a:srgbClr val="EFE6DA"/>
            </a:solidFill>
            <a:prstDash val="solid"/>
          </a:ln>
        </p:spPr>
      </p:sp>
      <p:sp>
        <p:nvSpPr>
          <p:cNvPr id="25" name="Text 23"/>
          <p:cNvSpPr txBox="1"/>
          <p:nvPr/>
        </p:nvSpPr>
        <p:spPr>
          <a:xfrm>
            <a:off x="6720840" y="1938528"/>
            <a:ext cx="1417320" cy="320040"/>
          </a:xfrm>
          <a:prstGeom prst="rect">
            <a:avLst/>
          </a:prstGeom>
          <a:noFill/>
          <a:ln/>
        </p:spPr>
        <p:txBody>
          <a:bodyPr wrap="square" lIns="0" tIns="0" rIns="0" bIns="0" rtlCol="0" anchor="t"/>
          <a:lstStyle/>
          <a:p>
            <a:pPr indent="0" marL="0">
              <a:buNone/>
            </a:pPr>
            <a:r>
              <a:rPr lang="en-US" sz="800" dirty="0">
                <a:solidFill>
                  <a:srgbClr val="5F5F5F"/>
                </a:solidFill>
              </a:rPr>
              <a:t>Aaj · 18 Oct</a:t>
            </a:r>
            <a:endParaRPr lang="en-US" sz="800" dirty="0"/>
          </a:p>
        </p:txBody>
      </p:sp>
      <p:sp>
        <p:nvSpPr>
          <p:cNvPr id="26" name="Shape 24"/>
          <p:cNvSpPr/>
          <p:nvPr/>
        </p:nvSpPr>
        <p:spPr>
          <a:xfrm>
            <a:off x="6647688" y="2377440"/>
            <a:ext cx="1572768" cy="1234440"/>
          </a:xfrm>
          <a:prstGeom prst="roundRect">
            <a:avLst>
              <a:gd name="adj" fmla="val 5926"/>
            </a:avLst>
          </a:prstGeom>
          <a:solidFill>
            <a:srgbClr val="FFFFFF"/>
          </a:solidFill>
          <a:ln w="12700">
            <a:solidFill>
              <a:srgbClr val="FFFFFF"/>
            </a:solidFill>
            <a:prstDash val="solid"/>
          </a:ln>
        </p:spPr>
      </p:sp>
      <p:sp>
        <p:nvSpPr>
          <p:cNvPr id="27" name="anim frame text 2"/>
          <p:cNvSpPr txBox="1"/>
          <p:nvPr/>
        </p:nvSpPr>
        <p:spPr>
          <a:xfrm>
            <a:off x="6720840" y="2450592"/>
            <a:ext cx="1426464" cy="1097280"/>
          </a:xfrm>
          <a:prstGeom prst="rect">
            <a:avLst/>
          </a:prstGeom>
          <a:noFill/>
          <a:ln/>
        </p:spPr>
        <p:txBody>
          <a:bodyPr wrap="square" lIns="0" tIns="0" rIns="0" bIns="0" rtlCol="0" anchor="t"/>
          <a:lstStyle/>
          <a:p>
            <a:pPr indent="0" marL="0">
              <a:buNone/>
            </a:pPr>
            <a:r>
              <a:rPr lang="en-US" sz="850" dirty="0">
                <a:solidFill>
                  <a:srgbClr val="1A1A1A"/>
                </a:solidFill>
              </a:rPr>
              <a:t>Diwali week demand ~1.8x. Stock mein 42 · mangao 264 packet Parle-G. Aaj kam: Maggi, Amul Taaza.</a:t>
            </a:r>
            <a:endParaRPr lang="en-US" sz="850" dirty="0"/>
          </a:p>
        </p:txBody>
      </p:sp>
      <p:sp>
        <p:nvSpPr>
          <p:cNvPr id="28" name="Shape 26"/>
          <p:cNvSpPr/>
          <p:nvPr/>
        </p:nvSpPr>
        <p:spPr>
          <a:xfrm>
            <a:off x="6647688" y="3730752"/>
            <a:ext cx="1572768" cy="347472"/>
          </a:xfrm>
          <a:prstGeom prst="roundRect">
            <a:avLst>
              <a:gd name="adj" fmla="val 50000"/>
            </a:avLst>
          </a:prstGeom>
          <a:solidFill>
            <a:srgbClr val="E8742B"/>
          </a:solidFill>
          <a:ln w="12700">
            <a:solidFill>
              <a:srgbClr val="E8742B"/>
            </a:solidFill>
            <a:prstDash val="solid"/>
          </a:ln>
        </p:spPr>
      </p:sp>
      <p:sp>
        <p:nvSpPr>
          <p:cNvPr id="29" name="anim frame chip 2"/>
          <p:cNvSpPr txBox="1"/>
          <p:nvPr/>
        </p:nvSpPr>
        <p:spPr>
          <a:xfrm>
            <a:off x="6647688" y="3730752"/>
            <a:ext cx="1572768" cy="347472"/>
          </a:xfrm>
          <a:prstGeom prst="rect">
            <a:avLst/>
          </a:prstGeom>
          <a:noFill/>
          <a:ln/>
        </p:spPr>
        <p:txBody>
          <a:bodyPr wrap="square" lIns="0" tIns="0" rIns="0" bIns="0" rtlCol="0" anchor="ctr"/>
          <a:lstStyle/>
          <a:p>
            <a:pPr algn="ctr" indent="0" marL="0">
              <a:buNone/>
            </a:pPr>
            <a:r>
              <a:rPr lang="en-US" sz="850" b="1" dirty="0">
                <a:solidFill>
                  <a:srgbClr val="FFFFFF"/>
                </a:solidFill>
              </a:rPr>
              <a:t>Order banao · 264 packet</a:t>
            </a:r>
            <a:endParaRPr lang="en-US" sz="850" dirty="0"/>
          </a:p>
        </p:txBody>
      </p:sp>
      <p:sp>
        <p:nvSpPr>
          <p:cNvPr id="30" name="Text 28"/>
          <p:cNvSpPr txBox="1"/>
          <p:nvPr/>
        </p:nvSpPr>
        <p:spPr>
          <a:xfrm>
            <a:off x="411480" y="4553712"/>
            <a:ext cx="8229600" cy="228600"/>
          </a:xfrm>
          <a:prstGeom prst="rect">
            <a:avLst/>
          </a:prstGeom>
          <a:noFill/>
          <a:ln/>
        </p:spPr>
        <p:txBody>
          <a:bodyPr wrap="square" lIns="0" tIns="0" rIns="0" bIns="0" rtlCol="0" anchor="t"/>
          <a:lstStyle/>
          <a:p>
            <a:pPr indent="0" marL="0">
              <a:buNone/>
            </a:pPr>
            <a:r>
              <a:rPr lang="en-US" sz="800" dirty="0">
                <a:solidFill>
                  <a:srgbClr val="5F5F5F"/>
                </a:solidFill>
              </a:rPr>
              <a:t>Reply strings are live output of the prototype (gemini-3.8-flash, 18 Oct 2026); figures are the demo shop’s</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00"/>
                                        <p:tgtEl>
                                          <p:spTgt spid="11"/>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Architecture diagram of the proposed solution</a:t>
            </a:r>
            <a:endParaRPr lang="en-US" sz="2600" dirty="0"/>
          </a:p>
        </p:txBody>
      </p:sp>
      <p:sp>
        <p:nvSpPr>
          <p:cNvPr id="3" name="Shape 1"/>
          <p:cNvSpPr/>
          <p:nvPr/>
        </p:nvSpPr>
        <p:spPr>
          <a:xfrm>
            <a:off x="411480" y="2011680"/>
            <a:ext cx="1828800" cy="1005840"/>
          </a:xfrm>
          <a:prstGeom prst="roundRect">
            <a:avLst>
              <a:gd name="adj" fmla="val 7273"/>
            </a:avLst>
          </a:prstGeom>
          <a:solidFill>
            <a:srgbClr val="F3EFEA"/>
          </a:solidFill>
          <a:ln w="12700">
            <a:solidFill>
              <a:srgbClr val="F3EFEA"/>
            </a:solidFill>
            <a:prstDash val="solid"/>
          </a:ln>
        </p:spPr>
      </p:sp>
      <p:sp>
        <p:nvSpPr>
          <p:cNvPr id="4" name="Text 2"/>
          <p:cNvSpPr txBox="1"/>
          <p:nvPr/>
        </p:nvSpPr>
        <p:spPr>
          <a:xfrm>
            <a:off x="548640" y="2103120"/>
            <a:ext cx="1600200" cy="274320"/>
          </a:xfrm>
          <a:prstGeom prst="rect">
            <a:avLst/>
          </a:prstGeom>
          <a:noFill/>
          <a:ln/>
        </p:spPr>
        <p:txBody>
          <a:bodyPr wrap="square" lIns="0" tIns="0" rIns="0" bIns="0" rtlCol="0" anchor="t"/>
          <a:lstStyle/>
          <a:p>
            <a:pPr indent="0" marL="0">
              <a:buNone/>
            </a:pPr>
            <a:r>
              <a:rPr lang="en-US" sz="1050" b="1" dirty="0">
                <a:solidFill>
                  <a:srgbClr val="1A1A1A"/>
                </a:solidFill>
              </a:rPr>
              <a:t>Shopkeeper’s phone</a:t>
            </a:r>
            <a:endParaRPr lang="en-US" sz="1050" dirty="0"/>
          </a:p>
        </p:txBody>
      </p:sp>
      <p:sp>
        <p:nvSpPr>
          <p:cNvPr id="5" name="Text 3"/>
          <p:cNvSpPr txBox="1"/>
          <p:nvPr/>
        </p:nvSpPr>
        <p:spPr>
          <a:xfrm>
            <a:off x="548640" y="2377440"/>
            <a:ext cx="1600200" cy="594360"/>
          </a:xfrm>
          <a:prstGeom prst="rect">
            <a:avLst/>
          </a:prstGeom>
          <a:noFill/>
          <a:ln/>
        </p:spPr>
        <p:txBody>
          <a:bodyPr wrap="square" lIns="0" tIns="0" rIns="0" bIns="0" rtlCol="0" anchor="t"/>
          <a:lstStyle/>
          <a:p>
            <a:pPr indent="0" marL="0">
              <a:buNone/>
            </a:pPr>
            <a:r>
              <a:rPr lang="en-US" sz="850" dirty="0">
                <a:solidFill>
                  <a:srgbClr val="1A1A1A"/>
                </a:solidFill>
              </a:rPr>
              <a:t>Flutter web app (also Android) · camera · mic · 22 languages</a:t>
            </a:r>
            <a:endParaRPr lang="en-US" sz="850" dirty="0"/>
          </a:p>
        </p:txBody>
      </p:sp>
      <p:sp>
        <p:nvSpPr>
          <p:cNvPr id="6" name="Shape 4"/>
          <p:cNvSpPr/>
          <p:nvPr/>
        </p:nvSpPr>
        <p:spPr>
          <a:xfrm>
            <a:off x="2514600" y="1920240"/>
            <a:ext cx="2011680" cy="1188720"/>
          </a:xfrm>
          <a:prstGeom prst="roundRect">
            <a:avLst>
              <a:gd name="adj" fmla="val 6154"/>
            </a:avLst>
          </a:prstGeom>
          <a:solidFill>
            <a:srgbClr val="1A1A1A"/>
          </a:solidFill>
          <a:ln w="12700">
            <a:solidFill>
              <a:srgbClr val="1A1A1A"/>
            </a:solidFill>
            <a:prstDash val="solid"/>
          </a:ln>
        </p:spPr>
      </p:sp>
      <p:sp>
        <p:nvSpPr>
          <p:cNvPr id="7" name="Text 5"/>
          <p:cNvSpPr txBox="1"/>
          <p:nvPr/>
        </p:nvSpPr>
        <p:spPr>
          <a:xfrm>
            <a:off x="2651760" y="2011680"/>
            <a:ext cx="1737360" cy="274320"/>
          </a:xfrm>
          <a:prstGeom prst="rect">
            <a:avLst/>
          </a:prstGeom>
          <a:noFill/>
          <a:ln/>
        </p:spPr>
        <p:txBody>
          <a:bodyPr wrap="square" lIns="0" tIns="0" rIns="0" bIns="0" rtlCol="0" anchor="t"/>
          <a:lstStyle/>
          <a:p>
            <a:pPr indent="0" marL="0">
              <a:buNone/>
            </a:pPr>
            <a:r>
              <a:rPr lang="en-US" sz="1050" b="1" dirty="0">
                <a:solidFill>
                  <a:srgbClr val="E8742B"/>
                </a:solidFill>
              </a:rPr>
              <a:t>Cloud Run</a:t>
            </a:r>
            <a:endParaRPr lang="en-US" sz="1050" dirty="0"/>
          </a:p>
        </p:txBody>
      </p:sp>
      <p:sp>
        <p:nvSpPr>
          <p:cNvPr id="8" name="Text 6"/>
          <p:cNvSpPr txBox="1"/>
          <p:nvPr/>
        </p:nvSpPr>
        <p:spPr>
          <a:xfrm>
            <a:off x="2651760" y="2286000"/>
            <a:ext cx="1783080" cy="822960"/>
          </a:xfrm>
          <a:prstGeom prst="rect">
            <a:avLst/>
          </a:prstGeom>
          <a:noFill/>
          <a:ln/>
        </p:spPr>
        <p:txBody>
          <a:bodyPr wrap="square" lIns="0" tIns="0" rIns="0" bIns="0" rtlCol="0" anchor="t"/>
          <a:lstStyle/>
          <a:p>
            <a:pPr indent="0" marL="0">
              <a:buNone/>
            </a:pPr>
            <a:r>
              <a:rPr lang="en-US" sz="850" dirty="0">
                <a:solidFill>
                  <a:srgbClr val="FFFFFF"/>
                </a:solidFill>
              </a:rPr>
              <a:t>FastAPI + google-genai SDK; one JSON-schema prompt per task; confidence gate → confirm chip; Cloud Scheduler runs the daily restock check</a:t>
            </a:r>
            <a:endParaRPr lang="en-US" sz="850" dirty="0"/>
          </a:p>
        </p:txBody>
      </p:sp>
      <p:sp>
        <p:nvSpPr>
          <p:cNvPr id="9" name="Shape 7"/>
          <p:cNvSpPr/>
          <p:nvPr/>
        </p:nvSpPr>
        <p:spPr>
          <a:xfrm>
            <a:off x="2258568" y="2423160"/>
            <a:ext cx="237744" cy="182880"/>
          </a:xfrm>
          <a:prstGeom prst="rightArrow">
            <a:avLst/>
          </a:prstGeom>
          <a:solidFill>
            <a:srgbClr val="E8742B"/>
          </a:solidFill>
          <a:ln w="12700">
            <a:solidFill>
              <a:srgbClr val="E8742B"/>
            </a:solidFill>
            <a:prstDash val="solid"/>
          </a:ln>
        </p:spPr>
      </p:sp>
      <p:sp>
        <p:nvSpPr>
          <p:cNvPr id="10" name="Shape 8"/>
          <p:cNvSpPr/>
          <p:nvPr/>
        </p:nvSpPr>
        <p:spPr>
          <a:xfrm>
            <a:off x="5029200" y="1170432"/>
            <a:ext cx="3703320" cy="621792"/>
          </a:xfrm>
          <a:prstGeom prst="roundRect">
            <a:avLst>
              <a:gd name="adj" fmla="val 11765"/>
            </a:avLst>
          </a:prstGeom>
          <a:solidFill>
            <a:srgbClr val="F3EFEA"/>
          </a:solidFill>
          <a:ln w="12700">
            <a:solidFill>
              <a:srgbClr val="F3EFEA"/>
            </a:solidFill>
            <a:prstDash val="solid"/>
          </a:ln>
        </p:spPr>
      </p:sp>
      <p:sp>
        <p:nvSpPr>
          <p:cNvPr id="11" name="anim arch head 0"/>
          <p:cNvSpPr txBox="1"/>
          <p:nvPr/>
        </p:nvSpPr>
        <p:spPr>
          <a:xfrm>
            <a:off x="5166360" y="1234440"/>
            <a:ext cx="3474720" cy="228600"/>
          </a:xfrm>
          <a:prstGeom prst="rect">
            <a:avLst/>
          </a:prstGeom>
          <a:noFill/>
          <a:ln/>
        </p:spPr>
        <p:txBody>
          <a:bodyPr wrap="square" lIns="0" tIns="0" rIns="0" bIns="0" rtlCol="0" anchor="t"/>
          <a:lstStyle/>
          <a:p>
            <a:pPr indent="0" marL="0">
              <a:buNone/>
            </a:pPr>
            <a:r>
              <a:rPr lang="en-US" sz="1000" b="1" dirty="0">
                <a:solidFill>
                  <a:srgbClr val="1A1A1A"/>
                </a:solidFill>
              </a:rPr>
              <a:t>Gemini 3.8 Flash on Vertex AI</a:t>
            </a:r>
            <a:endParaRPr lang="en-US" sz="1000" dirty="0"/>
          </a:p>
        </p:txBody>
      </p:sp>
      <p:sp>
        <p:nvSpPr>
          <p:cNvPr id="12" name="anim arch text 0"/>
          <p:cNvSpPr txBox="1"/>
          <p:nvPr/>
        </p:nvSpPr>
        <p:spPr>
          <a:xfrm>
            <a:off x="5166360" y="1453896"/>
            <a:ext cx="3474720" cy="338328"/>
          </a:xfrm>
          <a:prstGeom prst="rect">
            <a:avLst/>
          </a:prstGeom>
          <a:noFill/>
          <a:ln/>
        </p:spPr>
        <p:txBody>
          <a:bodyPr wrap="square" lIns="0" tIns="0" rIns="0" bIns="0" rtlCol="0" anchor="t"/>
          <a:lstStyle/>
          <a:p>
            <a:pPr indent="0" marL="0">
              <a:buNone/>
            </a:pPr>
            <a:r>
              <a:rPr lang="en-US" sz="800" dirty="0">
                <a:solidFill>
                  <a:srgbClr val="1A1A1A"/>
                </a:solidFill>
              </a:rPr>
              <a:t>Reads shelf photos, voice notes and Indic text; catalogue passed in context (RAG-lite); structured JSON output; low thinking for 2–3 s replies</a:t>
            </a:r>
            <a:endParaRPr lang="en-US" sz="800" dirty="0"/>
          </a:p>
        </p:txBody>
      </p:sp>
      <p:sp>
        <p:nvSpPr>
          <p:cNvPr id="13" name="Shape 11"/>
          <p:cNvSpPr/>
          <p:nvPr/>
        </p:nvSpPr>
        <p:spPr>
          <a:xfrm>
            <a:off x="4526280" y="2514600"/>
            <a:ext cx="228600" cy="0"/>
          </a:xfrm>
          <a:prstGeom prst="line">
            <a:avLst/>
          </a:prstGeom>
          <a:noFill/>
          <a:ln w="19050">
            <a:solidFill>
              <a:srgbClr val="E8742B"/>
            </a:solidFill>
            <a:prstDash val="solid"/>
          </a:ln>
        </p:spPr>
      </p:sp>
      <p:sp>
        <p:nvSpPr>
          <p:cNvPr id="14" name="Shape 12"/>
          <p:cNvSpPr/>
          <p:nvPr/>
        </p:nvSpPr>
        <p:spPr>
          <a:xfrm>
            <a:off x="4754880" y="1481328"/>
            <a:ext cx="0" cy="1033272"/>
          </a:xfrm>
          <a:prstGeom prst="line">
            <a:avLst/>
          </a:prstGeom>
          <a:noFill/>
          <a:ln w="19050">
            <a:solidFill>
              <a:srgbClr val="E8742B"/>
            </a:solidFill>
            <a:prstDash val="solid"/>
          </a:ln>
        </p:spPr>
      </p:sp>
      <p:sp>
        <p:nvSpPr>
          <p:cNvPr id="15" name="Shape 13"/>
          <p:cNvSpPr/>
          <p:nvPr/>
        </p:nvSpPr>
        <p:spPr>
          <a:xfrm>
            <a:off x="4754880" y="1481328"/>
            <a:ext cx="274320" cy="0"/>
          </a:xfrm>
          <a:prstGeom prst="line">
            <a:avLst/>
          </a:prstGeom>
          <a:noFill/>
          <a:ln w="19050">
            <a:solidFill>
              <a:srgbClr val="E8742B"/>
            </a:solidFill>
            <a:prstDash val="solid"/>
          </a:ln>
        </p:spPr>
      </p:sp>
      <p:sp>
        <p:nvSpPr>
          <p:cNvPr id="16" name="Shape 14"/>
          <p:cNvSpPr/>
          <p:nvPr/>
        </p:nvSpPr>
        <p:spPr>
          <a:xfrm>
            <a:off x="5029200" y="1883664"/>
            <a:ext cx="3703320" cy="621792"/>
          </a:xfrm>
          <a:prstGeom prst="roundRect">
            <a:avLst>
              <a:gd name="adj" fmla="val 11765"/>
            </a:avLst>
          </a:prstGeom>
          <a:solidFill>
            <a:srgbClr val="F3EFEA"/>
          </a:solidFill>
          <a:ln w="12700">
            <a:solidFill>
              <a:srgbClr val="F3EFEA"/>
            </a:solidFill>
            <a:prstDash val="solid"/>
          </a:ln>
        </p:spPr>
      </p:sp>
      <p:sp>
        <p:nvSpPr>
          <p:cNvPr id="17" name="anim arch head 1"/>
          <p:cNvSpPr txBox="1"/>
          <p:nvPr/>
        </p:nvSpPr>
        <p:spPr>
          <a:xfrm>
            <a:off x="5166360" y="1947672"/>
            <a:ext cx="3474720" cy="228600"/>
          </a:xfrm>
          <a:prstGeom prst="rect">
            <a:avLst/>
          </a:prstGeom>
          <a:noFill/>
          <a:ln/>
        </p:spPr>
        <p:txBody>
          <a:bodyPr wrap="square" lIns="0" tIns="0" rIns="0" bIns="0" rtlCol="0" anchor="t"/>
          <a:lstStyle/>
          <a:p>
            <a:pPr indent="0" marL="0">
              <a:buNone/>
            </a:pPr>
            <a:r>
              <a:rPr lang="en-US" sz="1000" b="1" dirty="0">
                <a:solidFill>
                  <a:srgbClr val="1A1A1A"/>
                </a:solidFill>
              </a:rPr>
              <a:t>BigQuery + BigQuery ML</a:t>
            </a:r>
            <a:endParaRPr lang="en-US" sz="1000" dirty="0"/>
          </a:p>
        </p:txBody>
      </p:sp>
      <p:sp>
        <p:nvSpPr>
          <p:cNvPr id="18" name="anim arch text 1"/>
          <p:cNvSpPr txBox="1"/>
          <p:nvPr/>
        </p:nvSpPr>
        <p:spPr>
          <a:xfrm>
            <a:off x="5166360" y="2167128"/>
            <a:ext cx="3474720" cy="338328"/>
          </a:xfrm>
          <a:prstGeom prst="rect">
            <a:avLst/>
          </a:prstGeom>
          <a:noFill/>
          <a:ln/>
        </p:spPr>
        <p:txBody>
          <a:bodyPr wrap="square" lIns="0" tIns="0" rIns="0" bIns="0" rtlCol="0" anchor="t"/>
          <a:lstStyle/>
          <a:p>
            <a:pPr indent="0" marL="0">
              <a:buNone/>
            </a:pPr>
            <a:r>
              <a:rPr lang="en-US" sz="800" dirty="0">
                <a:solidFill>
                  <a:srgbClr val="1A1A1A"/>
                </a:solidFill>
              </a:rPr>
              <a:t>Sales history, ARIMA_PLUS forecast with HOLIDAY_REGION = IN, feedback table</a:t>
            </a:r>
            <a:endParaRPr lang="en-US" sz="800" dirty="0"/>
          </a:p>
        </p:txBody>
      </p:sp>
      <p:sp>
        <p:nvSpPr>
          <p:cNvPr id="19" name="Shape 17"/>
          <p:cNvSpPr/>
          <p:nvPr/>
        </p:nvSpPr>
        <p:spPr>
          <a:xfrm>
            <a:off x="4526280" y="2514600"/>
            <a:ext cx="228600" cy="0"/>
          </a:xfrm>
          <a:prstGeom prst="line">
            <a:avLst/>
          </a:prstGeom>
          <a:noFill/>
          <a:ln w="19050">
            <a:solidFill>
              <a:srgbClr val="E8742B"/>
            </a:solidFill>
            <a:prstDash val="solid"/>
          </a:ln>
        </p:spPr>
      </p:sp>
      <p:sp>
        <p:nvSpPr>
          <p:cNvPr id="20" name="Shape 18"/>
          <p:cNvSpPr/>
          <p:nvPr/>
        </p:nvSpPr>
        <p:spPr>
          <a:xfrm>
            <a:off x="4754880" y="2194560"/>
            <a:ext cx="0" cy="320040"/>
          </a:xfrm>
          <a:prstGeom prst="line">
            <a:avLst/>
          </a:prstGeom>
          <a:noFill/>
          <a:ln w="19050">
            <a:solidFill>
              <a:srgbClr val="E8742B"/>
            </a:solidFill>
            <a:prstDash val="solid"/>
          </a:ln>
        </p:spPr>
      </p:sp>
      <p:sp>
        <p:nvSpPr>
          <p:cNvPr id="21" name="Shape 19"/>
          <p:cNvSpPr/>
          <p:nvPr/>
        </p:nvSpPr>
        <p:spPr>
          <a:xfrm>
            <a:off x="4754880" y="2194560"/>
            <a:ext cx="274320" cy="0"/>
          </a:xfrm>
          <a:prstGeom prst="line">
            <a:avLst/>
          </a:prstGeom>
          <a:noFill/>
          <a:ln w="19050">
            <a:solidFill>
              <a:srgbClr val="E8742B"/>
            </a:solidFill>
            <a:prstDash val="solid"/>
          </a:ln>
        </p:spPr>
      </p:sp>
      <p:sp>
        <p:nvSpPr>
          <p:cNvPr id="22" name="Shape 20"/>
          <p:cNvSpPr/>
          <p:nvPr/>
        </p:nvSpPr>
        <p:spPr>
          <a:xfrm>
            <a:off x="5029200" y="2596896"/>
            <a:ext cx="3703320" cy="621792"/>
          </a:xfrm>
          <a:prstGeom prst="roundRect">
            <a:avLst>
              <a:gd name="adj" fmla="val 11765"/>
            </a:avLst>
          </a:prstGeom>
          <a:solidFill>
            <a:srgbClr val="F3EFEA"/>
          </a:solidFill>
          <a:ln w="12700">
            <a:solidFill>
              <a:srgbClr val="F3EFEA"/>
            </a:solidFill>
            <a:prstDash val="solid"/>
          </a:ln>
        </p:spPr>
      </p:sp>
      <p:sp>
        <p:nvSpPr>
          <p:cNvPr id="23" name="anim arch head 2"/>
          <p:cNvSpPr txBox="1"/>
          <p:nvPr/>
        </p:nvSpPr>
        <p:spPr>
          <a:xfrm>
            <a:off x="5166360" y="2660904"/>
            <a:ext cx="3474720" cy="228600"/>
          </a:xfrm>
          <a:prstGeom prst="rect">
            <a:avLst/>
          </a:prstGeom>
          <a:noFill/>
          <a:ln/>
        </p:spPr>
        <p:txBody>
          <a:bodyPr wrap="square" lIns="0" tIns="0" rIns="0" bIns="0" rtlCol="0" anchor="t"/>
          <a:lstStyle/>
          <a:p>
            <a:pPr indent="0" marL="0">
              <a:buNone/>
            </a:pPr>
            <a:r>
              <a:rPr lang="en-US" sz="1000" b="1" dirty="0">
                <a:solidFill>
                  <a:srgbClr val="1A1A1A"/>
                </a:solidFill>
              </a:rPr>
              <a:t>Cloud Storage</a:t>
            </a:r>
            <a:endParaRPr lang="en-US" sz="1000" dirty="0"/>
          </a:p>
        </p:txBody>
      </p:sp>
      <p:sp>
        <p:nvSpPr>
          <p:cNvPr id="24" name="anim arch text 2"/>
          <p:cNvSpPr txBox="1"/>
          <p:nvPr/>
        </p:nvSpPr>
        <p:spPr>
          <a:xfrm>
            <a:off x="5166360" y="2880360"/>
            <a:ext cx="3474720" cy="338328"/>
          </a:xfrm>
          <a:prstGeom prst="rect">
            <a:avLst/>
          </a:prstGeom>
          <a:noFill/>
          <a:ln/>
        </p:spPr>
        <p:txBody>
          <a:bodyPr wrap="square" lIns="0" tIns="0" rIns="0" bIns="0" rtlCol="0" anchor="t"/>
          <a:lstStyle/>
          <a:p>
            <a:pPr indent="0" marL="0">
              <a:buNone/>
            </a:pPr>
            <a:r>
              <a:rPr lang="en-US" sz="800" dirty="0">
                <a:solidFill>
                  <a:srgbClr val="1A1A1A"/>
                </a:solidFill>
              </a:rPr>
              <a:t>Hosts the web app; shelf photos and voice audio</a:t>
            </a:r>
            <a:endParaRPr lang="en-US" sz="800" dirty="0"/>
          </a:p>
        </p:txBody>
      </p:sp>
      <p:sp>
        <p:nvSpPr>
          <p:cNvPr id="25" name="Shape 23"/>
          <p:cNvSpPr/>
          <p:nvPr/>
        </p:nvSpPr>
        <p:spPr>
          <a:xfrm>
            <a:off x="4526280" y="2514600"/>
            <a:ext cx="228600" cy="0"/>
          </a:xfrm>
          <a:prstGeom prst="line">
            <a:avLst/>
          </a:prstGeom>
          <a:noFill/>
          <a:ln w="19050">
            <a:solidFill>
              <a:srgbClr val="E8742B"/>
            </a:solidFill>
            <a:prstDash val="solid"/>
          </a:ln>
        </p:spPr>
      </p:sp>
      <p:sp>
        <p:nvSpPr>
          <p:cNvPr id="26" name="Shape 24"/>
          <p:cNvSpPr/>
          <p:nvPr/>
        </p:nvSpPr>
        <p:spPr>
          <a:xfrm>
            <a:off x="4754880" y="2514600"/>
            <a:ext cx="0" cy="393192"/>
          </a:xfrm>
          <a:prstGeom prst="line">
            <a:avLst/>
          </a:prstGeom>
          <a:noFill/>
          <a:ln w="19050">
            <a:solidFill>
              <a:srgbClr val="E8742B"/>
            </a:solidFill>
            <a:prstDash val="solid"/>
          </a:ln>
        </p:spPr>
      </p:sp>
      <p:sp>
        <p:nvSpPr>
          <p:cNvPr id="27" name="Shape 25"/>
          <p:cNvSpPr/>
          <p:nvPr/>
        </p:nvSpPr>
        <p:spPr>
          <a:xfrm>
            <a:off x="4754880" y="2907792"/>
            <a:ext cx="274320" cy="0"/>
          </a:xfrm>
          <a:prstGeom prst="line">
            <a:avLst/>
          </a:prstGeom>
          <a:noFill/>
          <a:ln w="19050">
            <a:solidFill>
              <a:srgbClr val="E8742B"/>
            </a:solidFill>
            <a:prstDash val="solid"/>
          </a:ln>
        </p:spPr>
      </p:sp>
      <p:sp>
        <p:nvSpPr>
          <p:cNvPr id="28" name="Shape 26"/>
          <p:cNvSpPr/>
          <p:nvPr/>
        </p:nvSpPr>
        <p:spPr>
          <a:xfrm>
            <a:off x="5029200" y="3310128"/>
            <a:ext cx="3703320" cy="621792"/>
          </a:xfrm>
          <a:prstGeom prst="roundRect">
            <a:avLst>
              <a:gd name="adj" fmla="val 11765"/>
            </a:avLst>
          </a:prstGeom>
          <a:solidFill>
            <a:srgbClr val="F7F7F7"/>
          </a:solidFill>
          <a:ln w="12700">
            <a:solidFill>
              <a:srgbClr val="F7F7F7"/>
            </a:solidFill>
            <a:prstDash val="solid"/>
          </a:ln>
        </p:spPr>
      </p:sp>
      <p:sp>
        <p:nvSpPr>
          <p:cNvPr id="29" name="anim arch head 3"/>
          <p:cNvSpPr txBox="1"/>
          <p:nvPr/>
        </p:nvSpPr>
        <p:spPr>
          <a:xfrm>
            <a:off x="5166360" y="3374136"/>
            <a:ext cx="3474720" cy="228600"/>
          </a:xfrm>
          <a:prstGeom prst="rect">
            <a:avLst/>
          </a:prstGeom>
          <a:noFill/>
          <a:ln/>
        </p:spPr>
        <p:txBody>
          <a:bodyPr wrap="square" lIns="0" tIns="0" rIns="0" bIns="0" rtlCol="0" anchor="t"/>
          <a:lstStyle/>
          <a:p>
            <a:pPr indent="0" marL="0">
              <a:buNone/>
            </a:pPr>
            <a:r>
              <a:rPr lang="en-US" sz="1000" b="1" dirty="0">
                <a:solidFill>
                  <a:srgbClr val="5F5F5F"/>
                </a:solidFill>
              </a:rPr>
              <a:t>Cloud SQL (roadmap)</a:t>
            </a:r>
            <a:endParaRPr lang="en-US" sz="1000" dirty="0"/>
          </a:p>
        </p:txBody>
      </p:sp>
      <p:sp>
        <p:nvSpPr>
          <p:cNvPr id="30" name="anim arch text 3"/>
          <p:cNvSpPr txBox="1"/>
          <p:nvPr/>
        </p:nvSpPr>
        <p:spPr>
          <a:xfrm>
            <a:off x="5166360" y="3593592"/>
            <a:ext cx="3474720" cy="338328"/>
          </a:xfrm>
          <a:prstGeom prst="rect">
            <a:avLst/>
          </a:prstGeom>
          <a:noFill/>
          <a:ln/>
        </p:spPr>
        <p:txBody>
          <a:bodyPr wrap="square" lIns="0" tIns="0" rIns="0" bIns="0" rtlCol="0" anchor="t"/>
          <a:lstStyle/>
          <a:p>
            <a:pPr indent="0" marL="0">
              <a:buNone/>
            </a:pPr>
            <a:r>
              <a:rPr lang="en-US" sz="800" dirty="0">
                <a:solidFill>
                  <a:srgbClr val="5F5F5F"/>
                </a:solidFill>
              </a:rPr>
              <a:t>Shops, items and stock today live in memory on Cloud Run; persistence is the first production step</a:t>
            </a:r>
            <a:endParaRPr lang="en-US" sz="800" dirty="0"/>
          </a:p>
        </p:txBody>
      </p:sp>
      <p:sp>
        <p:nvSpPr>
          <p:cNvPr id="31" name="Shape 29"/>
          <p:cNvSpPr/>
          <p:nvPr/>
        </p:nvSpPr>
        <p:spPr>
          <a:xfrm>
            <a:off x="4526280" y="2514600"/>
            <a:ext cx="228600" cy="0"/>
          </a:xfrm>
          <a:prstGeom prst="line">
            <a:avLst/>
          </a:prstGeom>
          <a:noFill/>
          <a:ln w="19050">
            <a:solidFill>
              <a:srgbClr val="E8742B"/>
            </a:solidFill>
            <a:prstDash val="solid"/>
          </a:ln>
        </p:spPr>
      </p:sp>
      <p:sp>
        <p:nvSpPr>
          <p:cNvPr id="32" name="Shape 30"/>
          <p:cNvSpPr/>
          <p:nvPr/>
        </p:nvSpPr>
        <p:spPr>
          <a:xfrm>
            <a:off x="4754880" y="2514600"/>
            <a:ext cx="0" cy="1106424"/>
          </a:xfrm>
          <a:prstGeom prst="line">
            <a:avLst/>
          </a:prstGeom>
          <a:noFill/>
          <a:ln w="19050">
            <a:solidFill>
              <a:srgbClr val="E8742B"/>
            </a:solidFill>
            <a:prstDash val="solid"/>
          </a:ln>
        </p:spPr>
      </p:sp>
      <p:sp>
        <p:nvSpPr>
          <p:cNvPr id="33" name="Shape 31"/>
          <p:cNvSpPr/>
          <p:nvPr/>
        </p:nvSpPr>
        <p:spPr>
          <a:xfrm>
            <a:off x="4754880" y="3621024"/>
            <a:ext cx="274320" cy="0"/>
          </a:xfrm>
          <a:prstGeom prst="line">
            <a:avLst/>
          </a:prstGeom>
          <a:noFill/>
          <a:ln w="19050">
            <a:solidFill>
              <a:srgbClr val="E8742B"/>
            </a:solidFill>
            <a:prstDash val="solid"/>
          </a:ln>
        </p:spPr>
      </p:sp>
      <p:sp>
        <p:nvSpPr>
          <p:cNvPr id="34" name="Shape 32"/>
          <p:cNvSpPr/>
          <p:nvPr/>
        </p:nvSpPr>
        <p:spPr>
          <a:xfrm>
            <a:off x="5029200" y="4023360"/>
            <a:ext cx="3703320" cy="621792"/>
          </a:xfrm>
          <a:prstGeom prst="roundRect">
            <a:avLst>
              <a:gd name="adj" fmla="val 11765"/>
            </a:avLst>
          </a:prstGeom>
          <a:solidFill>
            <a:srgbClr val="F7F7F7"/>
          </a:solidFill>
          <a:ln w="12700">
            <a:solidFill>
              <a:srgbClr val="F7F7F7"/>
            </a:solidFill>
            <a:prstDash val="solid"/>
          </a:ln>
        </p:spPr>
      </p:sp>
      <p:sp>
        <p:nvSpPr>
          <p:cNvPr id="35" name="anim arch head 4"/>
          <p:cNvSpPr txBox="1"/>
          <p:nvPr/>
        </p:nvSpPr>
        <p:spPr>
          <a:xfrm>
            <a:off x="5166360" y="4087368"/>
            <a:ext cx="3474720" cy="228600"/>
          </a:xfrm>
          <a:prstGeom prst="rect">
            <a:avLst/>
          </a:prstGeom>
          <a:noFill/>
          <a:ln/>
        </p:spPr>
        <p:txBody>
          <a:bodyPr wrap="square" lIns="0" tIns="0" rIns="0" bIns="0" rtlCol="0" anchor="t"/>
          <a:lstStyle/>
          <a:p>
            <a:pPr indent="0" marL="0">
              <a:buNone/>
            </a:pPr>
            <a:r>
              <a:rPr lang="en-US" sz="1000" b="1" dirty="0">
                <a:solidFill>
                  <a:srgbClr val="5F5F5F"/>
                </a:solidFill>
              </a:rPr>
              <a:t>Vertex AI Search + ADK (roadmap)</a:t>
            </a:r>
            <a:endParaRPr lang="en-US" sz="1000" dirty="0"/>
          </a:p>
        </p:txBody>
      </p:sp>
      <p:sp>
        <p:nvSpPr>
          <p:cNvPr id="36" name="anim arch text 4"/>
          <p:cNvSpPr txBox="1"/>
          <p:nvPr/>
        </p:nvSpPr>
        <p:spPr>
          <a:xfrm>
            <a:off x="5166360" y="4306824"/>
            <a:ext cx="3474720" cy="338328"/>
          </a:xfrm>
          <a:prstGeom prst="rect">
            <a:avLst/>
          </a:prstGeom>
          <a:noFill/>
          <a:ln/>
        </p:spPr>
        <p:txBody>
          <a:bodyPr wrap="square" lIns="0" tIns="0" rIns="0" bIns="0" rtlCol="0" anchor="t"/>
          <a:lstStyle/>
          <a:p>
            <a:pPr indent="0" marL="0">
              <a:buNone/>
            </a:pPr>
            <a:r>
              <a:rPr lang="en-US" sz="800" dirty="0">
                <a:solidFill>
                  <a:srgbClr val="5F5F5F"/>
                </a:solidFill>
              </a:rPr>
              <a:t>Catalogue matching for spoken names; multi-agent orchestration for godown and distributor flows</a:t>
            </a:r>
            <a:endParaRPr lang="en-US" sz="800" dirty="0"/>
          </a:p>
        </p:txBody>
      </p:sp>
      <p:sp>
        <p:nvSpPr>
          <p:cNvPr id="37" name="Shape 35"/>
          <p:cNvSpPr/>
          <p:nvPr/>
        </p:nvSpPr>
        <p:spPr>
          <a:xfrm>
            <a:off x="4526280" y="2514600"/>
            <a:ext cx="228600" cy="0"/>
          </a:xfrm>
          <a:prstGeom prst="line">
            <a:avLst/>
          </a:prstGeom>
          <a:noFill/>
          <a:ln w="19050">
            <a:solidFill>
              <a:srgbClr val="E8742B"/>
            </a:solidFill>
            <a:prstDash val="solid"/>
          </a:ln>
        </p:spPr>
      </p:sp>
      <p:sp>
        <p:nvSpPr>
          <p:cNvPr id="38" name="Shape 36"/>
          <p:cNvSpPr/>
          <p:nvPr/>
        </p:nvSpPr>
        <p:spPr>
          <a:xfrm>
            <a:off x="4754880" y="2514600"/>
            <a:ext cx="0" cy="1819656"/>
          </a:xfrm>
          <a:prstGeom prst="line">
            <a:avLst/>
          </a:prstGeom>
          <a:noFill/>
          <a:ln w="19050">
            <a:solidFill>
              <a:srgbClr val="E8742B"/>
            </a:solidFill>
            <a:prstDash val="solid"/>
          </a:ln>
        </p:spPr>
      </p:sp>
      <p:sp>
        <p:nvSpPr>
          <p:cNvPr id="39" name="Shape 37"/>
          <p:cNvSpPr/>
          <p:nvPr/>
        </p:nvSpPr>
        <p:spPr>
          <a:xfrm>
            <a:off x="4754880" y="4334256"/>
            <a:ext cx="274320" cy="0"/>
          </a:xfrm>
          <a:prstGeom prst="line">
            <a:avLst/>
          </a:prstGeom>
          <a:noFill/>
          <a:ln w="19050">
            <a:solidFill>
              <a:srgbClr val="E8742B"/>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00"/>
                                        <p:tgtEl>
                                          <p:spTgt spid="18"/>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400"/>
                                        <p:tgtEl>
                                          <p:spTgt spid="24"/>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400"/>
                                        <p:tgtEl>
                                          <p:spTgt spid="35"/>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Technologies to be used in the solution</a:t>
            </a:r>
            <a:endParaRPr lang="en-US" sz="2600" dirty="0"/>
          </a:p>
        </p:txBody>
      </p:sp>
      <p:graphicFrame>
        <p:nvGraphicFramePr>
          <p:cNvPr id="9" name="tech table"/>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1097280"/>
                <a:gridCol w="2377440"/>
                <a:gridCol w="4846320"/>
              </a:tblGrid>
              <a:tr h="384048">
                <a:tc>
                  <a:txBody>
                    <a:bodyPr/>
                    <a:lstStyle/>
                    <a:p>
                      <a:pPr indent="0" marL="0">
                        <a:buNone/>
                      </a:pPr>
                      <a:r>
                        <a:rPr lang="en-US" sz="950" b="1" dirty="0">
                          <a:solidFill>
                            <a:srgbClr val="FFFFFF"/>
                          </a:solidFill>
                          <a:latin typeface="Arial" pitchFamily="34" charset="0"/>
                          <a:ea typeface="Arial" pitchFamily="34" charset="-122"/>
                          <a:cs typeface="Arial" pitchFamily="34" charset="-120"/>
                        </a:rPr>
                        <a:t>Layer</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Technology</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it does here</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AI model</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Gemini 3.8 Flash on Vertex AI, google-genai Python SDK</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Reads shelf photos, voice notes and Hindi, Hinglish or regional text; replies in the same language. Structured JSON output on every call</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Prompting</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Few-shot + response schema + confidence gate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Hindi/Hinglish/English examples in one system prompt; catalogue in context; low thinking budget; entries under 0.7 confidence wait for a tap</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Analytics</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BigQuery, BigQuery ML ARIMA_PLUS</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Sales history and 4-week demand forecast with Indian holidays; festival uplift; feedback table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Backend</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Cloud Run + Cloud Scheduler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FastAPI API; scales to zero when idle; daily auto-restock check with a token-gated endpoint</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Storage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Cloud Storage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Hosts the Flutter web build; photos and audio</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Frontend</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Flutter (web now, Android APK built)</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Chat-style app: hold-to-talk, camera, 56 dp targets, works on low-end phones</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00" b="1" dirty="0">
                          <a:solidFill>
                            <a:srgbClr val="1A1A1A"/>
                          </a:solidFill>
                          <a:latin typeface="Arial" pitchFamily="34" charset="0"/>
                          <a:ea typeface="Arial" pitchFamily="34" charset="-122"/>
                          <a:cs typeface="Arial" pitchFamily="34" charset="-120"/>
                        </a:rPr>
                        <a:t>Roadmap</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Cloud SQL · Vertex AI Search · ADK · on-device model</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Persistence, catalogue matching, multi-agent orchestration, offline image recognition</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bl>
          </a:graphicData>
        </a:graphic>
      </p:graphicFrame>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Estimated implementation cost</a:t>
            </a:r>
            <a:endParaRPr lang="en-US" sz="2600" dirty="0"/>
          </a:p>
        </p:txBody>
      </p:sp>
      <p:sp>
        <p:nvSpPr>
          <p:cNvPr id="3" name="Text 1"/>
          <p:cNvSpPr txBox="1"/>
          <p:nvPr/>
        </p:nvSpPr>
        <p:spPr>
          <a:xfrm>
            <a:off x="411480" y="1115568"/>
            <a:ext cx="8321040" cy="274320"/>
          </a:xfrm>
          <a:prstGeom prst="rect">
            <a:avLst/>
          </a:prstGeom>
          <a:noFill/>
          <a:ln/>
        </p:spPr>
        <p:txBody>
          <a:bodyPr wrap="square" lIns="0" tIns="0" rIns="0" bIns="0" rtlCol="0" anchor="t"/>
          <a:lstStyle/>
          <a:p>
            <a:pPr indent="0" marL="0">
              <a:buNone/>
            </a:pPr>
            <a:r>
              <a:rPr lang="en-US" sz="1000" dirty="0">
                <a:solidFill>
                  <a:srgbClr val="1A1A1A"/>
                </a:solidFill>
              </a:rPr>
              <a:t>Pilot of 100 shops in Indore, per month. Assumes 20 voice or text entries and 2 shelf photos per shop per day.</a:t>
            </a:r>
            <a:endParaRPr lang="en-US" sz="1000" dirty="0"/>
          </a:p>
        </p:txBody>
      </p:sp>
      <p:graphicFrame>
        <p:nvGraphicFramePr>
          <p:cNvPr id="10" name="cost table"/>
          <p:cNvGraphicFramePr>
            <a:graphicFrameLocks noGrp="1"/>
          </p:cNvGraphicFramePr>
          <p:nvPr>
            <p:extLst>
              <p:ext uri="{D42A27DB-BD31-4B8C-83A1-F6EECF244321}">
                <p14:modId xmlns:p14="http://schemas.microsoft.com/office/powerpoint/2010/main" val="1579011935"/>
              </p:ext>
            </p:extLst>
          </p:nvPr>
        </p:nvGraphicFramePr>
        <p:xfrm>
          <a:off x="411480" y="1463040"/>
          <a:ext cx="8321040" cy="914400"/>
        </p:xfrm>
        <a:graphic>
          <a:graphicData uri="http://schemas.openxmlformats.org/drawingml/2006/table">
            <a:tbl>
              <a:tblPr/>
              <a:tblGrid>
                <a:gridCol w="2103120"/>
                <a:gridCol w="4572000"/>
                <a:gridCol w="1645920"/>
              </a:tblGrid>
              <a:tr h="365760">
                <a:tc>
                  <a:txBody>
                    <a:bodyPr/>
                    <a:lstStyle/>
                    <a:p>
                      <a:pPr indent="0" marL="0">
                        <a:buNone/>
                      </a:pPr>
                      <a:r>
                        <a:rPr lang="en-US" sz="950" b="1" dirty="0">
                          <a:solidFill>
                            <a:srgbClr val="FFFFFF"/>
                          </a:solidFill>
                          <a:latin typeface="Arial" pitchFamily="34" charset="0"/>
                          <a:ea typeface="Arial" pitchFamily="34" charset="-122"/>
                          <a:cs typeface="Arial" pitchFamily="34" charset="-120"/>
                        </a:rPr>
                        <a:t>Component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drives the cost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Est. per month</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Gemini 3.8 Flash on Vertex AI</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≈0.9M tokens per shop per month (prompt + catalogue, audio and image input; short JSON output)</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₹8,500 (≈ ₹85 per shop)</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Cloud Run + Cloud Scheduler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≈70k requests per month, scales to zero; scheduler job is in the free tier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₹0 (free tier)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BigQuery + BigQuery ML</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Daily ARIMA_PLUS retrain measured at ₹0.25 per run; queries inside the 1 TB free tier</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₹10</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Cloud Storage</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Web app, photos and audio, a few GB</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₹20</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65760">
                <a:tc>
                  <a:txBody>
                    <a:bodyPr/>
                    <a:lstStyle/>
                    <a:p>
                      <a:pPr indent="0" marL="0">
                        <a:buNone/>
                      </a:pPr>
                      <a:r>
                        <a:rPr lang="en-US" sz="900" b="1" dirty="0">
                          <a:solidFill>
                            <a:srgbClr val="1A1A1A"/>
                          </a:solidFill>
                          <a:latin typeface="Arial" pitchFamily="34" charset="0"/>
                          <a:ea typeface="Arial" pitchFamily="34" charset="-122"/>
                          <a:cs typeface="Arial" pitchFamily="34" charset="-120"/>
                        </a:rPr>
                        <a:t>Cloud SQL (roadmap)</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One small instance, only when persistence ships</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₹900–1,500</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65760">
                <a:tc>
                  <a:txBody>
                    <a:bodyPr/>
                    <a:lstStyle/>
                    <a:p>
                      <a:pPr indent="0" marL="0">
                        <a:buNone/>
                      </a:pPr>
                      <a:r>
                        <a:rPr lang="en-US" sz="950" b="1" dirty="0">
                          <a:solidFill>
                            <a:srgbClr val="1A1A1A"/>
                          </a:solidFill>
                          <a:latin typeface="Arial" pitchFamily="34" charset="0"/>
                          <a:ea typeface="Arial" pitchFamily="34" charset="-122"/>
                          <a:cs typeface="Arial" pitchFamily="34" charset="-120"/>
                        </a:rPr>
                        <a:t>Total today</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D9EDE2"/>
                    </a:solidFill>
                  </a:tcPr>
                </a:tc>
                <a:tc>
                  <a:txBody>
                    <a:bodyPr/>
                    <a:lstStyle/>
                    <a:p>
                      <a:pPr indent="0" marL="0">
                        <a:buNone/>
                      </a:pPr>
                      <a:r>
                        <a:rPr lang="en-US" sz="900" dirty="0">
                          <a:solidFill>
                            <a:srgbClr val="1A1A1A"/>
                          </a:solidFill>
                          <a:latin typeface="Arial" pitchFamily="34" charset="0"/>
                          <a:ea typeface="Arial" pitchFamily="34" charset="-122"/>
                          <a:cs typeface="Arial" pitchFamily="34" charset="-120"/>
                        </a:rPr>
                        <a:t>≈ ₹85 per shop per month at Gemini 3.8 Flash introductory pricing to 31 Dec 2026; about double from 2027</a:t>
                      </a:r>
                      <a:endParaRPr lang="en-US" sz="90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D9EDE2"/>
                    </a:solidFill>
                  </a:tcPr>
                </a:tc>
                <a:tc>
                  <a:txBody>
                    <a:bodyPr/>
                    <a:lstStyle/>
                    <a:p>
                      <a:pPr indent="0" marL="0">
                        <a:buNone/>
                      </a:pPr>
                      <a:r>
                        <a:rPr lang="en-US" sz="950" b="1" dirty="0">
                          <a:solidFill>
                            <a:srgbClr val="1A1A1A"/>
                          </a:solidFill>
                          <a:latin typeface="Arial" pitchFamily="34" charset="0"/>
                          <a:ea typeface="Arial" pitchFamily="34" charset="-122"/>
                          <a:cs typeface="Arial" pitchFamily="34" charset="-120"/>
                        </a:rPr>
                        <a:t>≈ ₹8,550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D9EDE2"/>
                    </a:solidFill>
                  </a:tcPr>
                </a:tc>
              </a:tr>
            </a:tbl>
          </a:graphicData>
        </a:graphic>
      </p:graphicFrame>
      <p:sp>
        <p:nvSpPr>
          <p:cNvPr id="5" name="Text 2"/>
          <p:cNvSpPr txBox="1"/>
          <p:nvPr/>
        </p:nvSpPr>
        <p:spPr>
          <a:xfrm>
            <a:off x="411480" y="4224528"/>
            <a:ext cx="8321040" cy="502920"/>
          </a:xfrm>
          <a:prstGeom prst="rect">
            <a:avLst/>
          </a:prstGeom>
          <a:noFill/>
          <a:ln/>
        </p:spPr>
        <p:txBody>
          <a:bodyPr wrap="square" lIns="0" tIns="0" rIns="0" bIns="0" rtlCol="0" anchor="t"/>
          <a:lstStyle/>
          <a:p>
            <a:pPr indent="0" marL="0">
              <a:buNone/>
            </a:pPr>
            <a:r>
              <a:rPr lang="en-US" sz="750" dirty="0">
                <a:solidFill>
                  <a:srgbClr val="5F5F5F"/>
                </a:solidFill>
              </a:rPr>
              <a:t>Pricing: Gemini 3.8 Flash $0.75 / $3.75 per 1M input / output tokens (introductory), ₹84 per $. Measured items: BQML training ₹0.25 per run and evaluation ₹0.05 (bytes billed, 18 Oct 2026). Gemini figure from the Vertex AI pricing page for Gemini 3.8 Flash at the assumed volume; rerun with the pricing calculator before the pilot. Reduce-cost roadmap: on-device image model for shelf checks, Gemini Flash-Lite for simple intents, caching the catalogue prompt.</a:t>
            </a:r>
            <a:endParaRPr lang="en-US" sz="7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Snapshots of the prototype</a:t>
            </a:r>
            <a:endParaRPr lang="en-US" sz="2600" dirty="0"/>
          </a:p>
        </p:txBody>
      </p:sp>
      <p:pic>
        <p:nvPicPr>
          <p:cNvPr id="3" name="anim shot 0" descr="shot_chat.jpg">    </p:cNvPr>
          <p:cNvPicPr>
            <a:picLocks noChangeAspect="1"/>
          </p:cNvPicPr>
          <p:nvPr/>
        </p:nvPicPr>
        <p:blipFill>
          <a:blip r:embed="rId1"/>
          <a:srcRect l="0" r="0" t="0" b="0"/>
          <a:stretch/>
        </p:blipFill>
        <p:spPr>
          <a:xfrm>
            <a:off x="685800" y="1188720"/>
            <a:ext cx="1572768" cy="3291840"/>
          </a:xfrm>
          <a:prstGeom prst="rect">
            <a:avLst/>
          </a:prstGeom>
        </p:spPr>
      </p:pic>
      <p:sp>
        <p:nvSpPr>
          <p:cNvPr id="4" name="Text 1"/>
          <p:cNvSpPr txBox="1"/>
          <p:nvPr/>
        </p:nvSpPr>
        <p:spPr>
          <a:xfrm>
            <a:off x="594360" y="4526280"/>
            <a:ext cx="2468880" cy="274320"/>
          </a:xfrm>
          <a:prstGeom prst="rect">
            <a:avLst/>
          </a:prstGeom>
          <a:noFill/>
          <a:ln/>
        </p:spPr>
        <p:txBody>
          <a:bodyPr wrap="square" lIns="0" tIns="0" rIns="0" bIns="0" rtlCol="0" anchor="t"/>
          <a:lstStyle/>
          <a:p>
            <a:pPr indent="0" marL="0">
              <a:buNone/>
            </a:pPr>
            <a:r>
              <a:rPr lang="en-US" sz="800" dirty="0">
                <a:solidFill>
                  <a:srgbClr val="5F5F5F"/>
                </a:solidFill>
              </a:rPr>
              <a:t>Voice or typed entry → confirmation card with Undo (live, Cloud Run)</a:t>
            </a:r>
            <a:endParaRPr lang="en-US" sz="800" dirty="0"/>
          </a:p>
        </p:txBody>
      </p:sp>
      <p:pic>
        <p:nvPicPr>
          <p:cNvPr id="5" name="anim shot 1" descr="shot_forecast.jpg">    </p:cNvPr>
          <p:cNvPicPr>
            <a:picLocks noChangeAspect="1"/>
          </p:cNvPicPr>
          <p:nvPr/>
        </p:nvPicPr>
        <p:blipFill>
          <a:blip r:embed="rId2"/>
          <a:srcRect l="0" r="0" t="0" b="0"/>
          <a:stretch/>
        </p:blipFill>
        <p:spPr>
          <a:xfrm>
            <a:off x="3429000" y="1188720"/>
            <a:ext cx="1572768" cy="3291840"/>
          </a:xfrm>
          <a:prstGeom prst="rect">
            <a:avLst/>
          </a:prstGeom>
        </p:spPr>
      </p:pic>
      <p:sp>
        <p:nvSpPr>
          <p:cNvPr id="6" name="Text 2"/>
          <p:cNvSpPr txBox="1"/>
          <p:nvPr/>
        </p:nvSpPr>
        <p:spPr>
          <a:xfrm>
            <a:off x="3337560" y="4526280"/>
            <a:ext cx="2468880" cy="274320"/>
          </a:xfrm>
          <a:prstGeom prst="rect">
            <a:avLst/>
          </a:prstGeom>
          <a:noFill/>
          <a:ln/>
        </p:spPr>
        <p:txBody>
          <a:bodyPr wrap="square" lIns="0" tIns="0" rIns="0" bIns="0" rtlCol="0" anchor="t"/>
          <a:lstStyle/>
          <a:p>
            <a:pPr indent="0" marL="0">
              <a:buNone/>
            </a:pPr>
            <a:r>
              <a:rPr lang="en-US" sz="800" dirty="0">
                <a:solidFill>
                  <a:srgbClr val="5F5F5F"/>
                </a:solidFill>
              </a:rPr>
              <a:t>4-week forecast with Dussehra and Diwali markers, reorder in one tap</a:t>
            </a:r>
            <a:endParaRPr lang="en-US" sz="800" dirty="0"/>
          </a:p>
        </p:txBody>
      </p:sp>
      <p:pic>
        <p:nvPicPr>
          <p:cNvPr id="7" name="anim shot 2" descr="shot_phone.png">    </p:cNvPr>
          <p:cNvPicPr>
            <a:picLocks noChangeAspect="1"/>
          </p:cNvPicPr>
          <p:nvPr/>
        </p:nvPicPr>
        <p:blipFill>
          <a:blip r:embed="rId3"/>
          <a:srcRect l="0" r="0" t="0" b="0"/>
          <a:stretch/>
        </p:blipFill>
        <p:spPr>
          <a:xfrm>
            <a:off x="6172200" y="1188720"/>
            <a:ext cx="1572768" cy="3291840"/>
          </a:xfrm>
          <a:prstGeom prst="rect">
            <a:avLst/>
          </a:prstGeom>
        </p:spPr>
      </p:pic>
      <p:sp>
        <p:nvSpPr>
          <p:cNvPr id="8" name="Text 3"/>
          <p:cNvSpPr txBox="1"/>
          <p:nvPr/>
        </p:nvSpPr>
        <p:spPr>
          <a:xfrm>
            <a:off x="6080760" y="4526280"/>
            <a:ext cx="2468880" cy="274320"/>
          </a:xfrm>
          <a:prstGeom prst="rect">
            <a:avLst/>
          </a:prstGeom>
          <a:noFill/>
          <a:ln/>
        </p:spPr>
        <p:txBody>
          <a:bodyPr wrap="square" lIns="0" tIns="0" rIns="0" bIns="0" rtlCol="0" anchor="t"/>
          <a:lstStyle/>
          <a:p>
            <a:pPr indent="0" marL="0">
              <a:buNone/>
            </a:pPr>
            <a:r>
              <a:rPr lang="en-US" sz="800" dirty="0">
                <a:solidFill>
                  <a:srgbClr val="5F5F5F"/>
                </a:solidFill>
              </a:rPr>
              <a:t>The same app on a ₹10k Android phone (OnePlus, Android 11)</a:t>
            </a:r>
            <a:endParaRPr lang="en-US" sz="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Prototype performance report / benchmarking</a:t>
            </a:r>
            <a:endParaRPr lang="en-US" sz="2600" dirty="0"/>
          </a:p>
        </p:txBody>
      </p:sp>
      <p:graphicFrame>
        <p:nvGraphicFramePr>
          <p:cNvPr id="12" name="perf table"/>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3291840"/>
                <a:gridCol w="1097280"/>
                <a:gridCol w="3931920"/>
              </a:tblGrid>
              <a:tr h="384048">
                <a:tc>
                  <a:txBody>
                    <a:bodyPr/>
                    <a:lstStyle/>
                    <a:p>
                      <a:pPr indent="0" marL="0">
                        <a:buNone/>
                      </a:pPr>
                      <a:r>
                        <a:rPr lang="en-US" sz="950" b="1" dirty="0">
                          <a:solidFill>
                            <a:srgbClr val="FFFFFF"/>
                          </a:solidFill>
                          <a:latin typeface="Arial" pitchFamily="34" charset="0"/>
                          <a:ea typeface="Arial" pitchFamily="34" charset="-122"/>
                          <a:cs typeface="Arial" pitchFamily="34" charset="-120"/>
                        </a:rPr>
                        <a:t>Metric</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Target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Result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1A1A1A"/>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Shelf photo item-count accuracy</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 90%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b="1" dirty="0">
                          <a:solidFill>
                            <a:srgbClr val="2E6B4E"/>
                          </a:solidFill>
                          <a:latin typeface="Arial" pitchFamily="34" charset="0"/>
                          <a:ea typeface="Arial" pitchFamily="34" charset="-122"/>
                          <a:cs typeface="Arial" pitchFamily="34" charset="-120"/>
                        </a:rPr>
                        <a:t>96.2% exact counts (25 of 26), recall 100%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Voice / text entry accuracy (Hindi, Hinglish, English)</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 90%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50" b="1" dirty="0">
                          <a:solidFill>
                            <a:srgbClr val="2E6B4E"/>
                          </a:solidFill>
                          <a:latin typeface="Arial" pitchFamily="34" charset="0"/>
                          <a:ea typeface="Arial" pitchFamily="34" charset="-122"/>
                          <a:cs typeface="Arial" pitchFamily="34" charset="-120"/>
                        </a:rPr>
                        <a:t>96.2% intent · 100% entities (26 utterances)</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Forecast error, 4 weeks ahead</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 20%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b="1" dirty="0">
                          <a:solidFill>
                            <a:srgbClr val="2E6B4E"/>
                          </a:solidFill>
                          <a:latin typeface="Arial" pitchFamily="34" charset="0"/>
                          <a:ea typeface="Arial" pitchFamily="34" charset="-122"/>
                          <a:cs typeface="Arial" pitchFamily="34" charset="-120"/>
                        </a:rPr>
                        <a:t>11.0% volume-weighted (19.6% without festival uplift)</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Time from photo to reply</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&lt; 5 s</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c>
                  <a:txBody>
                    <a:bodyPr/>
                    <a:lstStyle/>
                    <a:p>
                      <a:pPr indent="0" marL="0">
                        <a:buNone/>
                      </a:pPr>
                      <a:r>
                        <a:rPr lang="en-US" sz="950" b="1" dirty="0">
                          <a:solidFill>
                            <a:srgbClr val="B3261E"/>
                          </a:solidFill>
                          <a:latin typeface="Arial" pitchFamily="34" charset="0"/>
                          <a:ea typeface="Arial" pitchFamily="34" charset="-122"/>
                          <a:cs typeface="Arial" pitchFamily="34" charset="-120"/>
                        </a:rPr>
                        <a:t>9.0 s median (text entry: 2.5 s median)</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A1A1A"/>
                          </a:solidFill>
                          <a:latin typeface="Arial" pitchFamily="34" charset="0"/>
                          <a:ea typeface="Arial" pitchFamily="34" charset="-122"/>
                          <a:cs typeface="Arial" pitchFamily="34" charset="-120"/>
                        </a:rPr>
                        <a:t>Cloud cost per shop per month</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dirty="0">
                          <a:solidFill>
                            <a:srgbClr val="1A1A1A"/>
                          </a:solidFill>
                          <a:latin typeface="Arial" pitchFamily="34" charset="0"/>
                          <a:ea typeface="Arial" pitchFamily="34" charset="-122"/>
                          <a:cs typeface="Arial" pitchFamily="34" charset="-120"/>
                        </a:rPr>
                        <a:t>&lt; ₹100</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c>
                  <a:txBody>
                    <a:bodyPr/>
                    <a:lstStyle/>
                    <a:p>
                      <a:pPr indent="0" marL="0">
                        <a:buNone/>
                      </a:pPr>
                      <a:r>
                        <a:rPr lang="en-US" sz="950" b="1" dirty="0">
                          <a:solidFill>
                            <a:srgbClr val="2E6B4E"/>
                          </a:solidFill>
                          <a:latin typeface="Arial" pitchFamily="34" charset="0"/>
                          <a:ea typeface="Arial" pitchFamily="34" charset="-122"/>
                          <a:cs typeface="Arial" pitchFamily="34" charset="-120"/>
                        </a:rPr>
                        <a:t>≈ ₹85 (introductory Gemini pricing; measured BQML ₹0.25 per retrain)</a:t>
                      </a:r>
                      <a:endParaRPr lang="en-US" sz="950" dirty="0">
                        <a:latin typeface="Arial" charset="0"/>
                        <a:ea typeface="Arial" charset="0"/>
                        <a:cs typeface="Arial" charset="0"/>
                      </a:endParaRPr>
                    </a:p>
                  </a:txBody>
                  <a:tcPr marL="45720" marR="45720" marT="45720" marB="45720" anchor="ctr">
                    <a:lnL w="6350" cap="flat" cmpd="sng" algn="ctr">
                      <a:solidFill>
                        <a:srgbClr val="E3DDD4"/>
                      </a:solidFill>
                      <a:prstDash val="solid"/>
                      <a:round/>
                      <a:headEnd type="none" w="med" len="med"/>
                      <a:tailEnd type="none" w="med" len="med"/>
                    </a:lnL>
                    <a:lnR w="6350" cap="flat" cmpd="sng" algn="ctr">
                      <a:solidFill>
                        <a:srgbClr val="E3DDD4"/>
                      </a:solidFill>
                      <a:prstDash val="solid"/>
                      <a:round/>
                      <a:headEnd type="none" w="med" len="med"/>
                      <a:tailEnd type="none" w="med" len="med"/>
                    </a:lnR>
                    <a:lnT w="6350" cap="flat" cmpd="sng" algn="ctr">
                      <a:solidFill>
                        <a:srgbClr val="E3DDD4"/>
                      </a:solidFill>
                      <a:prstDash val="solid"/>
                      <a:round/>
                      <a:headEnd type="none" w="med" len="med"/>
                      <a:tailEnd type="none" w="med" len="med"/>
                    </a:lnT>
                    <a:lnB w="6350" cap="flat" cmpd="sng" algn="ctr">
                      <a:solidFill>
                        <a:srgbClr val="E3DDD4"/>
                      </a:solidFill>
                      <a:prstDash val="solid"/>
                      <a:round/>
                      <a:headEnd type="none" w="med" len="med"/>
                      <a:tailEnd type="none" w="med" len="med"/>
                    </a:lnB>
                    <a:solidFill>
                      <a:srgbClr val="FAF7F3"/>
                    </a:solidFill>
                  </a:tcPr>
                </a:tc>
              </a:tr>
            </a:tbl>
          </a:graphicData>
        </a:graphic>
      </p:graphicFrame>
      <p:sp>
        <p:nvSpPr>
          <p:cNvPr id="4" name="Text 1"/>
          <p:cNvSpPr txBox="1"/>
          <p:nvPr/>
        </p:nvSpPr>
        <p:spPr>
          <a:xfrm>
            <a:off x="411480" y="3703320"/>
            <a:ext cx="8321040" cy="822960"/>
          </a:xfrm>
          <a:prstGeom prst="rect">
            <a:avLst/>
          </a:prstGeom>
          <a:noFill/>
          <a:ln/>
        </p:spPr>
        <p:txBody>
          <a:bodyPr wrap="square" lIns="0" tIns="0" rIns="0" bIns="0" rtlCol="0" anchor="t"/>
          <a:lstStyle/>
          <a:p>
            <a:pPr indent="0" marL="0">
              <a:buNone/>
            </a:pPr>
            <a:r>
              <a:rPr lang="en-US" sz="850" dirty="0">
                <a:solidFill>
                  <a:srgbClr val="5F5F5F"/>
                </a:solidFill>
              </a:rPr>
              <a:t>Test set (18 Oct 2026): 5 synthetic shelf images with 26 labelled product counts; 26 Hindi, Hinglish and English utterances; forecast back-tested on a 14-day holdout of 120 days of synthetic sales for 40 items (Navratri inside the window). Photo latency misses target because of Gemini tail latency; a 40 s cap with one retry keeps the app responsive. Real-shelf photos and real sales are the next measurements.</a:t>
            </a:r>
            <a:endParaRPr lang="en-US" sz="8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Additional details / future development</a:t>
            </a:r>
            <a:endParaRPr lang="en-US" sz="2600" dirty="0"/>
          </a:p>
        </p:txBody>
      </p:sp>
      <p:sp>
        <p:nvSpPr>
          <p:cNvPr id="3" name="Shape 1"/>
          <p:cNvSpPr/>
          <p:nvPr/>
        </p:nvSpPr>
        <p:spPr>
          <a:xfrm>
            <a:off x="411480" y="1188720"/>
            <a:ext cx="2697480" cy="1463040"/>
          </a:xfrm>
          <a:prstGeom prst="roundRect">
            <a:avLst>
              <a:gd name="adj" fmla="val 5000"/>
            </a:avLst>
          </a:prstGeom>
          <a:solidFill>
            <a:srgbClr val="FBF2E6"/>
          </a:solidFill>
          <a:ln w="12700">
            <a:solidFill>
              <a:srgbClr val="FBF2E6"/>
            </a:solidFill>
            <a:prstDash val="solid"/>
          </a:ln>
        </p:spPr>
      </p:sp>
      <p:pic>
        <p:nvPicPr>
          <p:cNvPr id="4" name="anim Godown plugin icon" descr="preencoded.png">    </p:cNvPr>
          <p:cNvPicPr>
            <a:picLocks noChangeAspect="1"/>
          </p:cNvPicPr>
          <p:nvPr/>
        </p:nvPicPr>
        <p:blipFill>
          <a:blip r:embed="rId1"/>
          <a:stretch>
            <a:fillRect/>
          </a:stretch>
        </p:blipFill>
        <p:spPr>
          <a:xfrm>
            <a:off x="576072" y="1344168"/>
            <a:ext cx="237744" cy="237744"/>
          </a:xfrm>
          <a:prstGeom prst="rect">
            <a:avLst/>
          </a:prstGeom>
        </p:spPr>
      </p:pic>
      <p:sp>
        <p:nvSpPr>
          <p:cNvPr id="5" name="anim Godown plugin"/>
          <p:cNvSpPr txBox="1"/>
          <p:nvPr/>
        </p:nvSpPr>
        <p:spPr>
          <a:xfrm>
            <a:off x="57607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Godown plugin</a:t>
            </a:r>
            <a:endParaRPr lang="en-US" sz="1200" dirty="0"/>
          </a:p>
        </p:txBody>
      </p:sp>
      <p:sp>
        <p:nvSpPr>
          <p:cNvPr id="6" name="anim Godown plugin text"/>
          <p:cNvSpPr txBox="1"/>
          <p:nvPr/>
        </p:nvSpPr>
        <p:spPr>
          <a:xfrm>
            <a:off x="576072" y="1938528"/>
            <a:ext cx="2368296" cy="594360"/>
          </a:xfrm>
          <a:prstGeom prst="rect">
            <a:avLst/>
          </a:prstGeom>
          <a:noFill/>
          <a:ln/>
        </p:spPr>
        <p:txBody>
          <a:bodyPr wrap="square" lIns="0" tIns="0" rIns="0" bIns="0" rtlCol="0" anchor="t"/>
          <a:lstStyle/>
          <a:p>
            <a:pPr indent="0" marL="0">
              <a:buNone/>
            </a:pPr>
            <a:r>
              <a:rPr lang="en-US" sz="1000" dirty="0">
                <a:solidFill>
                  <a:srgbClr val="1A1A1A"/>
                </a:solidFill>
              </a:rPr>
              <a:t>Warehouse stock alongside the shelf: shelf check → godown double-check → then prompt the kirana to place the order with the distributor.</a:t>
            </a:r>
            <a:endParaRPr lang="en-US" sz="1000" dirty="0"/>
          </a:p>
        </p:txBody>
      </p:sp>
      <p:sp>
        <p:nvSpPr>
          <p:cNvPr id="7" name="Shape 4"/>
          <p:cNvSpPr/>
          <p:nvPr/>
        </p:nvSpPr>
        <p:spPr>
          <a:xfrm>
            <a:off x="3246120" y="1188720"/>
            <a:ext cx="2697480" cy="1463040"/>
          </a:xfrm>
          <a:prstGeom prst="roundRect">
            <a:avLst>
              <a:gd name="adj" fmla="val 5000"/>
            </a:avLst>
          </a:prstGeom>
          <a:solidFill>
            <a:srgbClr val="FBF2E6"/>
          </a:solidFill>
          <a:ln w="12700">
            <a:solidFill>
              <a:srgbClr val="FBF2E6"/>
            </a:solidFill>
            <a:prstDash val="solid"/>
          </a:ln>
        </p:spPr>
      </p:sp>
      <p:pic>
        <p:nvPicPr>
          <p:cNvPr id="8" name="anim Offline image model icon" descr="preencoded.png">    </p:cNvPr>
          <p:cNvPicPr>
            <a:picLocks noChangeAspect="1"/>
          </p:cNvPicPr>
          <p:nvPr/>
        </p:nvPicPr>
        <p:blipFill>
          <a:blip r:embed="rId2"/>
          <a:stretch>
            <a:fillRect/>
          </a:stretch>
        </p:blipFill>
        <p:spPr>
          <a:xfrm>
            <a:off x="3410712" y="1344168"/>
            <a:ext cx="237744" cy="237744"/>
          </a:xfrm>
          <a:prstGeom prst="rect">
            <a:avLst/>
          </a:prstGeom>
        </p:spPr>
      </p:pic>
      <p:sp>
        <p:nvSpPr>
          <p:cNvPr id="9" name="anim Offline image model"/>
          <p:cNvSpPr txBox="1"/>
          <p:nvPr/>
        </p:nvSpPr>
        <p:spPr>
          <a:xfrm>
            <a:off x="341071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Offline image model</a:t>
            </a:r>
            <a:endParaRPr lang="en-US" sz="1200" dirty="0"/>
          </a:p>
        </p:txBody>
      </p:sp>
      <p:sp>
        <p:nvSpPr>
          <p:cNvPr id="10" name="anim Offline image model text"/>
          <p:cNvSpPr txBox="1"/>
          <p:nvPr/>
        </p:nvSpPr>
        <p:spPr>
          <a:xfrm>
            <a:off x="3410712" y="1938528"/>
            <a:ext cx="2368296" cy="594360"/>
          </a:xfrm>
          <a:prstGeom prst="rect">
            <a:avLst/>
          </a:prstGeom>
          <a:noFill/>
          <a:ln/>
        </p:spPr>
        <p:txBody>
          <a:bodyPr wrap="square" lIns="0" tIns="0" rIns="0" bIns="0" rtlCol="0" anchor="t"/>
          <a:lstStyle/>
          <a:p>
            <a:pPr indent="0" marL="0">
              <a:buNone/>
            </a:pPr>
            <a:r>
              <a:rPr lang="en-US" sz="1000" dirty="0">
                <a:solidFill>
                  <a:srgbClr val="1A1A1A"/>
                </a:solidFill>
              </a:rPr>
              <a:t>On-device shelf recognition (Gemini Nano or a TFLite model) so counts work without network and Gemini cost drops for the most frequent call.</a:t>
            </a:r>
            <a:endParaRPr lang="en-US" sz="1000" dirty="0"/>
          </a:p>
        </p:txBody>
      </p:sp>
      <p:sp>
        <p:nvSpPr>
          <p:cNvPr id="11" name="Shape 7"/>
          <p:cNvSpPr/>
          <p:nvPr/>
        </p:nvSpPr>
        <p:spPr>
          <a:xfrm>
            <a:off x="6080760" y="1188720"/>
            <a:ext cx="2697480" cy="1463040"/>
          </a:xfrm>
          <a:prstGeom prst="roundRect">
            <a:avLst>
              <a:gd name="adj" fmla="val 5000"/>
            </a:avLst>
          </a:prstGeom>
          <a:solidFill>
            <a:srgbClr val="FBF2E6"/>
          </a:solidFill>
          <a:ln w="12700">
            <a:solidFill>
              <a:srgbClr val="FBF2E6"/>
            </a:solidFill>
            <a:prstDash val="solid"/>
          </a:ln>
        </p:spPr>
      </p:sp>
      <p:pic>
        <p:nvPicPr>
          <p:cNvPr id="12" name="anim Production-ready, end to end icon" descr="preencoded.png">    </p:cNvPr>
          <p:cNvPicPr>
            <a:picLocks noChangeAspect="1"/>
          </p:cNvPicPr>
          <p:nvPr/>
        </p:nvPicPr>
        <p:blipFill>
          <a:blip r:embed="rId3"/>
          <a:stretch>
            <a:fillRect/>
          </a:stretch>
        </p:blipFill>
        <p:spPr>
          <a:xfrm>
            <a:off x="6245352" y="1344168"/>
            <a:ext cx="237744" cy="237744"/>
          </a:xfrm>
          <a:prstGeom prst="rect">
            <a:avLst/>
          </a:prstGeom>
        </p:spPr>
      </p:pic>
      <p:sp>
        <p:nvSpPr>
          <p:cNvPr id="13" name="anim Production-ready, end to end"/>
          <p:cNvSpPr txBox="1"/>
          <p:nvPr/>
        </p:nvSpPr>
        <p:spPr>
          <a:xfrm>
            <a:off x="6245352" y="1645920"/>
            <a:ext cx="2368296" cy="274320"/>
          </a:xfrm>
          <a:prstGeom prst="rect">
            <a:avLst/>
          </a:prstGeom>
          <a:noFill/>
          <a:ln/>
        </p:spPr>
        <p:txBody>
          <a:bodyPr wrap="square" lIns="0" tIns="0" rIns="0" bIns="0" rtlCol="0" anchor="t"/>
          <a:lstStyle/>
          <a:p>
            <a:pPr indent="0" marL="0">
              <a:buNone/>
            </a:pPr>
            <a:r>
              <a:rPr lang="en-US" sz="1200" b="1" dirty="0">
                <a:solidFill>
                  <a:srgbClr val="1A1A1A"/>
                </a:solidFill>
              </a:rPr>
              <a:t>Production-ready, end to end</a:t>
            </a:r>
            <a:endParaRPr lang="en-US" sz="1200" dirty="0"/>
          </a:p>
        </p:txBody>
      </p:sp>
      <p:sp>
        <p:nvSpPr>
          <p:cNvPr id="14" name="anim Production-ready, end to end text"/>
          <p:cNvSpPr txBox="1"/>
          <p:nvPr/>
        </p:nvSpPr>
        <p:spPr>
          <a:xfrm>
            <a:off x="6245352" y="1938528"/>
            <a:ext cx="2368296" cy="594360"/>
          </a:xfrm>
          <a:prstGeom prst="rect">
            <a:avLst/>
          </a:prstGeom>
          <a:noFill/>
          <a:ln/>
        </p:spPr>
        <p:txBody>
          <a:bodyPr wrap="square" lIns="0" tIns="0" rIns="0" bIns="0" rtlCol="0" anchor="t"/>
          <a:lstStyle/>
          <a:p>
            <a:pPr indent="0" marL="0">
              <a:buNone/>
            </a:pPr>
            <a:r>
              <a:rPr lang="en-US" sz="1000" dirty="0">
                <a:solidFill>
                  <a:srgbClr val="1A1A1A"/>
                </a:solidFill>
              </a:rPr>
              <a:t>Cloud SQL persistence, sign-in, ADK multi-agent orchestration, Vertex AI Search catalogue matching, monitoring and cost caps.</a:t>
            </a:r>
            <a:endParaRPr lang="en-US" sz="1000" dirty="0"/>
          </a:p>
        </p:txBody>
      </p:sp>
      <p:sp>
        <p:nvSpPr>
          <p:cNvPr id="15" name="Shape 10"/>
          <p:cNvSpPr/>
          <p:nvPr/>
        </p:nvSpPr>
        <p:spPr>
          <a:xfrm>
            <a:off x="411480" y="2761488"/>
            <a:ext cx="2697480" cy="1463040"/>
          </a:xfrm>
          <a:prstGeom prst="roundRect">
            <a:avLst>
              <a:gd name="adj" fmla="val 5000"/>
            </a:avLst>
          </a:prstGeom>
          <a:solidFill>
            <a:srgbClr val="F3EFEA"/>
          </a:solidFill>
          <a:ln w="12700">
            <a:solidFill>
              <a:srgbClr val="F3EFEA"/>
            </a:solidFill>
            <a:prstDash val="solid"/>
          </a:ln>
        </p:spPr>
      </p:sp>
      <p:pic>
        <p:nvPicPr>
          <p:cNvPr id="16" name="anim 22-language app, reviewed icon" descr="preencoded.png">    </p:cNvPr>
          <p:cNvPicPr>
            <a:picLocks noChangeAspect="1"/>
          </p:cNvPicPr>
          <p:nvPr/>
        </p:nvPicPr>
        <p:blipFill>
          <a:blip r:embed="rId4"/>
          <a:stretch>
            <a:fillRect/>
          </a:stretch>
        </p:blipFill>
        <p:spPr>
          <a:xfrm>
            <a:off x="576072" y="2916936"/>
            <a:ext cx="237744" cy="237744"/>
          </a:xfrm>
          <a:prstGeom prst="rect">
            <a:avLst/>
          </a:prstGeom>
        </p:spPr>
      </p:pic>
      <p:sp>
        <p:nvSpPr>
          <p:cNvPr id="17" name="anim 22-language app, reviewed"/>
          <p:cNvSpPr txBox="1"/>
          <p:nvPr/>
        </p:nvSpPr>
        <p:spPr>
          <a:xfrm>
            <a:off x="576072" y="3218688"/>
            <a:ext cx="2368296" cy="274320"/>
          </a:xfrm>
          <a:prstGeom prst="rect">
            <a:avLst/>
          </a:prstGeom>
          <a:noFill/>
          <a:ln/>
        </p:spPr>
        <p:txBody>
          <a:bodyPr wrap="square" lIns="0" tIns="0" rIns="0" bIns="0" rtlCol="0" anchor="t"/>
          <a:lstStyle/>
          <a:p>
            <a:pPr indent="0" marL="0">
              <a:buNone/>
            </a:pPr>
            <a:r>
              <a:rPr lang="en-US" sz="1200" b="1" dirty="0">
                <a:solidFill>
                  <a:srgbClr val="1A1A1A"/>
                </a:solidFill>
              </a:rPr>
              <a:t>22-language app, reviewed</a:t>
            </a:r>
            <a:endParaRPr lang="en-US" sz="1200" dirty="0"/>
          </a:p>
        </p:txBody>
      </p:sp>
      <p:sp>
        <p:nvSpPr>
          <p:cNvPr id="18" name="anim 22-language app, reviewed text"/>
          <p:cNvSpPr txBox="1"/>
          <p:nvPr/>
        </p:nvSpPr>
        <p:spPr>
          <a:xfrm>
            <a:off x="576072" y="3511296"/>
            <a:ext cx="2368296" cy="594360"/>
          </a:xfrm>
          <a:prstGeom prst="rect">
            <a:avLst/>
          </a:prstGeom>
          <a:noFill/>
          <a:ln/>
        </p:spPr>
        <p:txBody>
          <a:bodyPr wrap="square" lIns="0" tIns="0" rIns="0" bIns="0" rtlCol="0" anchor="t"/>
          <a:lstStyle/>
          <a:p>
            <a:pPr indent="0" marL="0">
              <a:buNone/>
            </a:pPr>
            <a:r>
              <a:rPr lang="en-US" sz="1000" dirty="0">
                <a:solidFill>
                  <a:srgbClr val="1A1A1A"/>
                </a:solidFill>
              </a:rPr>
              <a:t>Backend already replies in all 22; UI strings generated with Gemini need native-speaker review before launch.</a:t>
            </a:r>
            <a:endParaRPr lang="en-US" sz="1000" dirty="0"/>
          </a:p>
        </p:txBody>
      </p:sp>
      <p:sp>
        <p:nvSpPr>
          <p:cNvPr id="19" name="Shape 13"/>
          <p:cNvSpPr/>
          <p:nvPr/>
        </p:nvSpPr>
        <p:spPr>
          <a:xfrm>
            <a:off x="3246120" y="2761488"/>
            <a:ext cx="2697480" cy="1463040"/>
          </a:xfrm>
          <a:prstGeom prst="roundRect">
            <a:avLst>
              <a:gd name="adj" fmla="val 5000"/>
            </a:avLst>
          </a:prstGeom>
          <a:solidFill>
            <a:srgbClr val="F3EFEA"/>
          </a:solidFill>
          <a:ln w="12700">
            <a:solidFill>
              <a:srgbClr val="F3EFEA"/>
            </a:solidFill>
            <a:prstDash val="solid"/>
          </a:ln>
        </p:spPr>
      </p:sp>
      <p:pic>
        <p:nvPicPr>
          <p:cNvPr id="20" name="anim Udhaar ledger &amp; credit icon" descr="preencoded.png">    </p:cNvPr>
          <p:cNvPicPr>
            <a:picLocks noChangeAspect="1"/>
          </p:cNvPicPr>
          <p:nvPr/>
        </p:nvPicPr>
        <p:blipFill>
          <a:blip r:embed="rId5"/>
          <a:stretch>
            <a:fillRect/>
          </a:stretch>
        </p:blipFill>
        <p:spPr>
          <a:xfrm>
            <a:off x="3410712" y="2916936"/>
            <a:ext cx="237744" cy="237744"/>
          </a:xfrm>
          <a:prstGeom prst="rect">
            <a:avLst/>
          </a:prstGeom>
        </p:spPr>
      </p:pic>
      <p:sp>
        <p:nvSpPr>
          <p:cNvPr id="21" name="anim Udhaar ledger &amp;amp; credit"/>
          <p:cNvSpPr txBox="1"/>
          <p:nvPr/>
        </p:nvSpPr>
        <p:spPr>
          <a:xfrm>
            <a:off x="3410712" y="3218688"/>
            <a:ext cx="2368296" cy="274320"/>
          </a:xfrm>
          <a:prstGeom prst="rect">
            <a:avLst/>
          </a:prstGeom>
          <a:noFill/>
          <a:ln/>
        </p:spPr>
        <p:txBody>
          <a:bodyPr wrap="square" lIns="0" tIns="0" rIns="0" bIns="0" rtlCol="0" anchor="t"/>
          <a:lstStyle/>
          <a:p>
            <a:pPr indent="0" marL="0">
              <a:buNone/>
            </a:pPr>
            <a:r>
              <a:rPr lang="en-US" sz="1200" b="1" dirty="0">
                <a:solidFill>
                  <a:srgbClr val="1A1A1A"/>
                </a:solidFill>
              </a:rPr>
              <a:t>Udhaar ledger &amp; credit</a:t>
            </a:r>
            <a:endParaRPr lang="en-US" sz="1200" dirty="0"/>
          </a:p>
        </p:txBody>
      </p:sp>
      <p:sp>
        <p:nvSpPr>
          <p:cNvPr id="22" name="anim Udhaar ledger &amp;amp; credit text"/>
          <p:cNvSpPr txBox="1"/>
          <p:nvPr/>
        </p:nvSpPr>
        <p:spPr>
          <a:xfrm>
            <a:off x="3410712" y="3511296"/>
            <a:ext cx="2368296" cy="594360"/>
          </a:xfrm>
          <a:prstGeom prst="rect">
            <a:avLst/>
          </a:prstGeom>
          <a:noFill/>
          <a:ln/>
        </p:spPr>
        <p:txBody>
          <a:bodyPr wrap="square" lIns="0" tIns="0" rIns="0" bIns="0" rtlCol="0" anchor="t"/>
          <a:lstStyle/>
          <a:p>
            <a:pPr indent="0" marL="0">
              <a:buNone/>
            </a:pPr>
            <a:r>
              <a:rPr lang="en-US" sz="1000" dirty="0">
                <a:solidFill>
                  <a:srgbClr val="1A1A1A"/>
                </a:solidFill>
              </a:rPr>
              <a:t>Voice-logged credit and reminders; clean sales history can help shops qualify for working-capital loans.</a:t>
            </a:r>
            <a:endParaRPr lang="en-US" sz="1000" dirty="0"/>
          </a:p>
        </p:txBody>
      </p:sp>
      <p:sp>
        <p:nvSpPr>
          <p:cNvPr id="23" name="Shape 16"/>
          <p:cNvSpPr/>
          <p:nvPr/>
        </p:nvSpPr>
        <p:spPr>
          <a:xfrm>
            <a:off x="6080760" y="2761488"/>
            <a:ext cx="2697480" cy="1463040"/>
          </a:xfrm>
          <a:prstGeom prst="roundRect">
            <a:avLst>
              <a:gd name="adj" fmla="val 5000"/>
            </a:avLst>
          </a:prstGeom>
          <a:solidFill>
            <a:srgbClr val="F3EFEA"/>
          </a:solidFill>
          <a:ln w="12700">
            <a:solidFill>
              <a:srgbClr val="F3EFEA"/>
            </a:solidFill>
            <a:prstDash val="solid"/>
          </a:ln>
        </p:spPr>
      </p:sp>
      <p:pic>
        <p:nvPicPr>
          <p:cNvPr id="24" name="anim Supply forecast &amp; WhatsApp icon" descr="preencoded.png">    </p:cNvPr>
          <p:cNvPicPr>
            <a:picLocks noChangeAspect="1"/>
          </p:cNvPicPr>
          <p:nvPr/>
        </p:nvPicPr>
        <p:blipFill>
          <a:blip r:embed="rId6"/>
          <a:stretch>
            <a:fillRect/>
          </a:stretch>
        </p:blipFill>
        <p:spPr>
          <a:xfrm>
            <a:off x="6245352" y="2916936"/>
            <a:ext cx="237744" cy="237744"/>
          </a:xfrm>
          <a:prstGeom prst="rect">
            <a:avLst/>
          </a:prstGeom>
        </p:spPr>
      </p:pic>
      <p:sp>
        <p:nvSpPr>
          <p:cNvPr id="25" name="anim Supply forecast &amp;amp; WhatsApp"/>
          <p:cNvSpPr txBox="1"/>
          <p:nvPr/>
        </p:nvSpPr>
        <p:spPr>
          <a:xfrm>
            <a:off x="6245352" y="3218688"/>
            <a:ext cx="2368296" cy="274320"/>
          </a:xfrm>
          <a:prstGeom prst="rect">
            <a:avLst/>
          </a:prstGeom>
          <a:noFill/>
          <a:ln/>
        </p:spPr>
        <p:txBody>
          <a:bodyPr wrap="square" lIns="0" tIns="0" rIns="0" bIns="0" rtlCol="0" anchor="t"/>
          <a:lstStyle/>
          <a:p>
            <a:pPr indent="0" marL="0">
              <a:buNone/>
            </a:pPr>
            <a:r>
              <a:rPr lang="en-US" sz="1200" b="1" dirty="0">
                <a:solidFill>
                  <a:srgbClr val="1A1A1A"/>
                </a:solidFill>
              </a:rPr>
              <a:t>Supply forecast &amp; WhatsApp</a:t>
            </a:r>
            <a:endParaRPr lang="en-US" sz="1200" dirty="0"/>
          </a:p>
        </p:txBody>
      </p:sp>
      <p:sp>
        <p:nvSpPr>
          <p:cNvPr id="26" name="anim Supply forecast &amp;amp; WhatsApp text"/>
          <p:cNvSpPr txBox="1"/>
          <p:nvPr/>
        </p:nvSpPr>
        <p:spPr>
          <a:xfrm>
            <a:off x="6245352" y="3511296"/>
            <a:ext cx="2368296" cy="594360"/>
          </a:xfrm>
          <a:prstGeom prst="rect">
            <a:avLst/>
          </a:prstGeom>
          <a:noFill/>
          <a:ln/>
        </p:spPr>
        <p:txBody>
          <a:bodyPr wrap="square" lIns="0" tIns="0" rIns="0" bIns="0" rtlCol="0" anchor="t"/>
          <a:lstStyle/>
          <a:p>
            <a:pPr indent="0" marL="0">
              <a:buNone/>
            </a:pPr>
            <a:r>
              <a:rPr lang="en-US" sz="1000" dirty="0">
                <a:solidFill>
                  <a:srgbClr val="1A1A1A"/>
                </a:solidFill>
              </a:rPr>
              <a:t>Distributor lead times and stock-outs in the forecast; WhatsApp-first entry so shopkeepers never install anything.</a:t>
            </a:r>
            <a:endParaRPr lang="en-US" sz="1000" dirty="0"/>
          </a:p>
        </p:txBody>
      </p:sp>
      <p:sp>
        <p:nvSpPr>
          <p:cNvPr id="27" name="Text 19"/>
          <p:cNvSpPr txBox="1"/>
          <p:nvPr/>
        </p:nvSpPr>
        <p:spPr>
          <a:xfrm>
            <a:off x="411480" y="4389120"/>
            <a:ext cx="8321040" cy="320040"/>
          </a:xfrm>
          <a:prstGeom prst="rect">
            <a:avLst/>
          </a:prstGeom>
          <a:noFill/>
          <a:ln/>
        </p:spPr>
        <p:txBody>
          <a:bodyPr wrap="square" lIns="0" tIns="0" rIns="0" bIns="0" rtlCol="0" anchor="t"/>
          <a:lstStyle/>
          <a:p>
            <a:pPr indent="0" marL="0">
              <a:buNone/>
            </a:pPr>
            <a:r>
              <a:rPr lang="en-US" sz="900" i="1" dirty="0">
                <a:solidFill>
                  <a:srgbClr val="1A1A1A"/>
                </a:solidFill>
              </a:rPr>
              <a:t>Business model: free for shopkeepers; distributors and FMCG brands pay for anonymised, aggregated demand insights and for the restock channel.</a:t>
            </a:r>
            <a:endParaRPr lang="en-US" sz="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7" fill="hold">
                      <p:stCondLst>
                        <p:cond delay="indefinite"/>
                      </p:stCondLst>
                      <p:childTnLst>
                        <p:par>
                          <p:cTn id="5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par>
                                <p:cTn id="24" presetID="10" presetClass="entr" presetSubtype="0" fill="hold" grpId="0" nodeType="withEffect">
                                  <p:stCondLst>
                                    <p:cond delay="1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00"/>
                                        <p:tgtEl>
                                          <p:spTgt spid="13"/>
                                        </p:tgtEl>
                                      </p:cBhvr>
                                    </p:animEffect>
                                  </p:childTnLst>
                                </p:cTn>
                              </p:par>
                              <p:par>
                                <p:cTn id="27" presetID="10" presetClass="entr" presetSubtype="0" fill="hold" grpId="0" nodeType="withEffect">
                                  <p:stCondLst>
                                    <p:cond delay="20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225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25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275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300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00"/>
                                        <p:tgtEl>
                                          <p:spTgt spid="20"/>
                                        </p:tgtEl>
                                      </p:cBhvr>
                                    </p:animEffect>
                                  </p:childTnLst>
                                </p:cTn>
                              </p:par>
                              <p:par>
                                <p:cTn id="42" presetID="10" presetClass="entr" presetSubtype="0" fill="hold" grpId="0" nodeType="withEffect">
                                  <p:stCondLst>
                                    <p:cond delay="325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par>
                                <p:cTn id="45" presetID="10" presetClass="entr" presetSubtype="0" fill="hold" grpId="0" nodeType="withEffect">
                                  <p:stCondLst>
                                    <p:cond delay="350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par>
                                <p:cTn id="48" presetID="10" presetClass="entr" presetSubtype="0" fill="hold" grpId="0" nodeType="withEffect">
                                  <p:stCondLst>
                                    <p:cond delay="375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400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425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5"/>
          <p:cNvSpPr/>
          <p:nvPr>
            <p:ph idx="105" type="title" hasCustomPrompt="1"/>
          </p:nvPr>
        </p:nvSpPr>
        <p:spPr>
          <a:xfrm>
            <a:off x="411480" y="548640"/>
            <a:ext cx="8321040" cy="548640"/>
          </a:xfrm>
          <a:prstGeom prst="rect">
            <a:avLst/>
          </a:prstGeom>
          <a:noFill/>
          <a:ln/>
        </p:spPr>
        <p:txBody>
          <a:bodyPr wrap="square" lIns="0" tIns="0" rIns="0" bIns="0" rtlCol="0" anchor="ctr"/>
          <a:lstStyle/>
          <a:p>
            <a:pPr algn="l" indent="0" marL="0">
              <a:buNone/>
            </a:pPr>
            <a:r>
              <a:rPr lang="en-US" sz="2600" b="1" dirty="0">
                <a:solidFill>
                  <a:srgbClr val="1A1A1A"/>
                </a:solidFill>
              </a:rPr>
              <a:t>Provide links to your:</a:t>
            </a:r>
            <a:endParaRPr lang="en-US" sz="2600" dirty="0"/>
          </a:p>
        </p:txBody>
      </p:sp>
      <p:sp>
        <p:nvSpPr>
          <p:cNvPr id="3" name="Shape 1"/>
          <p:cNvSpPr/>
          <p:nvPr/>
        </p:nvSpPr>
        <p:spPr>
          <a:xfrm>
            <a:off x="411480" y="1280160"/>
            <a:ext cx="8321040" cy="822960"/>
          </a:xfrm>
          <a:prstGeom prst="roundRect">
            <a:avLst>
              <a:gd name="adj" fmla="val 8889"/>
            </a:avLst>
          </a:prstGeom>
          <a:solidFill>
            <a:srgbClr val="F3EFEA"/>
          </a:solidFill>
          <a:ln w="12700">
            <a:solidFill>
              <a:srgbClr val="F3EFEA"/>
            </a:solidFill>
            <a:prstDash val="solid"/>
          </a:ln>
        </p:spPr>
      </p:sp>
      <p:pic>
        <p:nvPicPr>
          <p:cNvPr id="4" name="link icon 0" descr="preencoded.png">    </p:cNvPr>
          <p:cNvPicPr>
            <a:picLocks noChangeAspect="1"/>
          </p:cNvPicPr>
          <p:nvPr/>
        </p:nvPicPr>
        <p:blipFill>
          <a:blip r:embed="rId1"/>
          <a:stretch>
            <a:fillRect/>
          </a:stretch>
        </p:blipFill>
        <p:spPr>
          <a:xfrm>
            <a:off x="594360" y="1554480"/>
            <a:ext cx="292608" cy="292608"/>
          </a:xfrm>
          <a:prstGeom prst="rect">
            <a:avLst/>
          </a:prstGeom>
        </p:spPr>
      </p:pic>
      <p:sp>
        <p:nvSpPr>
          <p:cNvPr id="5" name="anim link head 0"/>
          <p:cNvSpPr txBox="1"/>
          <p:nvPr/>
        </p:nvSpPr>
        <p:spPr>
          <a:xfrm>
            <a:off x="1051560" y="1417320"/>
            <a:ext cx="7498080" cy="274320"/>
          </a:xfrm>
          <a:prstGeom prst="rect">
            <a:avLst/>
          </a:prstGeom>
          <a:noFill/>
          <a:ln/>
        </p:spPr>
        <p:txBody>
          <a:bodyPr wrap="square" lIns="0" tIns="0" rIns="0" bIns="0" rtlCol="0" anchor="t"/>
          <a:lstStyle/>
          <a:p>
            <a:pPr indent="0" marL="0">
              <a:buNone/>
            </a:pPr>
            <a:r>
              <a:rPr lang="en-US" sz="1100" b="1" dirty="0">
                <a:solidFill>
                  <a:srgbClr val="1A1A1A"/>
                </a:solidFill>
              </a:rPr>
              <a:t>GitHub public repository</a:t>
            </a:r>
            <a:endParaRPr lang="en-US" sz="1100" dirty="0"/>
          </a:p>
        </p:txBody>
      </p:sp>
      <p:sp>
        <p:nvSpPr>
          <p:cNvPr id="6" name="anim link url 0"/>
          <p:cNvSpPr txBox="1"/>
          <p:nvPr/>
        </p:nvSpPr>
        <p:spPr>
          <a:xfrm>
            <a:off x="1051560" y="1709928"/>
            <a:ext cx="7498080" cy="320040"/>
          </a:xfrm>
          <a:prstGeom prst="rect">
            <a:avLst/>
          </a:prstGeom>
          <a:noFill/>
          <a:ln/>
        </p:spPr>
        <p:txBody>
          <a:bodyPr wrap="square" lIns="0" tIns="0" rIns="0" bIns="0" rtlCol="0" anchor="t"/>
          <a:lstStyle/>
          <a:p>
            <a:pPr indent="0" marL="0">
              <a:buNone/>
            </a:pPr>
            <a:r>
              <a:rPr lang="en-US" sz="1000" dirty="0">
                <a:solidFill>
                  <a:srgbClr val="E8742B"/>
                </a:solidFill>
              </a:rPr>
              <a:t>github.com/vipindev-shambu/kirana-mitra</a:t>
            </a:r>
            <a:endParaRPr lang="en-US" sz="1000" dirty="0"/>
          </a:p>
        </p:txBody>
      </p:sp>
      <p:sp>
        <p:nvSpPr>
          <p:cNvPr id="7" name="Shape 4"/>
          <p:cNvSpPr/>
          <p:nvPr/>
        </p:nvSpPr>
        <p:spPr>
          <a:xfrm>
            <a:off x="411480" y="2286000"/>
            <a:ext cx="8321040" cy="822960"/>
          </a:xfrm>
          <a:prstGeom prst="roundRect">
            <a:avLst>
              <a:gd name="adj" fmla="val 8889"/>
            </a:avLst>
          </a:prstGeom>
          <a:solidFill>
            <a:srgbClr val="F3EFEA"/>
          </a:solidFill>
          <a:ln w="12700">
            <a:solidFill>
              <a:srgbClr val="F3EFEA"/>
            </a:solidFill>
            <a:prstDash val="solid"/>
          </a:ln>
        </p:spPr>
      </p:sp>
      <p:pic>
        <p:nvPicPr>
          <p:cNvPr id="8" name="link icon 1" descr="preencoded.png">    </p:cNvPr>
          <p:cNvPicPr>
            <a:picLocks noChangeAspect="1"/>
          </p:cNvPicPr>
          <p:nvPr/>
        </p:nvPicPr>
        <p:blipFill>
          <a:blip r:embed="rId2"/>
          <a:stretch>
            <a:fillRect/>
          </a:stretch>
        </p:blipFill>
        <p:spPr>
          <a:xfrm>
            <a:off x="594360" y="2560320"/>
            <a:ext cx="292608" cy="292608"/>
          </a:xfrm>
          <a:prstGeom prst="rect">
            <a:avLst/>
          </a:prstGeom>
        </p:spPr>
      </p:pic>
      <p:sp>
        <p:nvSpPr>
          <p:cNvPr id="9" name="anim link head 1"/>
          <p:cNvSpPr txBox="1"/>
          <p:nvPr/>
        </p:nvSpPr>
        <p:spPr>
          <a:xfrm>
            <a:off x="1051560" y="2423160"/>
            <a:ext cx="7498080" cy="274320"/>
          </a:xfrm>
          <a:prstGeom prst="rect">
            <a:avLst/>
          </a:prstGeom>
          <a:noFill/>
          <a:ln/>
        </p:spPr>
        <p:txBody>
          <a:bodyPr wrap="square" lIns="0" tIns="0" rIns="0" bIns="0" rtlCol="0" anchor="t"/>
          <a:lstStyle/>
          <a:p>
            <a:pPr indent="0" marL="0">
              <a:buNone/>
            </a:pPr>
            <a:r>
              <a:rPr lang="en-US" sz="1100" b="1" dirty="0">
                <a:solidFill>
                  <a:srgbClr val="1A1A1A"/>
                </a:solidFill>
              </a:rPr>
              <a:t>Demo video (3 minutes)</a:t>
            </a:r>
            <a:endParaRPr lang="en-US" sz="1100" dirty="0"/>
          </a:p>
        </p:txBody>
      </p:sp>
      <p:sp>
        <p:nvSpPr>
          <p:cNvPr id="10" name="anim link url 1"/>
          <p:cNvSpPr txBox="1"/>
          <p:nvPr/>
        </p:nvSpPr>
        <p:spPr>
          <a:xfrm>
            <a:off x="1051560" y="2715768"/>
            <a:ext cx="7498080" cy="320040"/>
          </a:xfrm>
          <a:prstGeom prst="rect">
            <a:avLst/>
          </a:prstGeom>
          <a:noFill/>
          <a:ln/>
        </p:spPr>
        <p:txBody>
          <a:bodyPr wrap="square" lIns="0" tIns="0" rIns="0" bIns="0" rtlCol="0" anchor="t"/>
          <a:lstStyle/>
          <a:p>
            <a:pPr indent="0" marL="0">
              <a:buNone/>
            </a:pPr>
            <a:r>
              <a:rPr lang="en-US" sz="1000" dirty="0">
                <a:solidFill>
                  <a:srgbClr val="E8742B"/>
                </a:solidFill>
              </a:rPr>
              <a:t>[video link]</a:t>
            </a:r>
            <a:endParaRPr lang="en-US" sz="1000" dirty="0"/>
          </a:p>
        </p:txBody>
      </p:sp>
      <p:sp>
        <p:nvSpPr>
          <p:cNvPr id="11" name="Shape 7"/>
          <p:cNvSpPr/>
          <p:nvPr/>
        </p:nvSpPr>
        <p:spPr>
          <a:xfrm>
            <a:off x="411480" y="3291840"/>
            <a:ext cx="8321040" cy="822960"/>
          </a:xfrm>
          <a:prstGeom prst="roundRect">
            <a:avLst>
              <a:gd name="adj" fmla="val 8889"/>
            </a:avLst>
          </a:prstGeom>
          <a:solidFill>
            <a:srgbClr val="F3EFEA"/>
          </a:solidFill>
          <a:ln w="12700">
            <a:solidFill>
              <a:srgbClr val="F3EFEA"/>
            </a:solidFill>
            <a:prstDash val="solid"/>
          </a:ln>
        </p:spPr>
      </p:sp>
      <p:pic>
        <p:nvPicPr>
          <p:cNvPr id="12" name="link icon 2" descr="preencoded.png">    </p:cNvPr>
          <p:cNvPicPr>
            <a:picLocks noChangeAspect="1"/>
          </p:cNvPicPr>
          <p:nvPr/>
        </p:nvPicPr>
        <p:blipFill>
          <a:blip r:embed="rId3"/>
          <a:stretch>
            <a:fillRect/>
          </a:stretch>
        </p:blipFill>
        <p:spPr>
          <a:xfrm>
            <a:off x="594360" y="3566160"/>
            <a:ext cx="292608" cy="292608"/>
          </a:xfrm>
          <a:prstGeom prst="rect">
            <a:avLst/>
          </a:prstGeom>
        </p:spPr>
      </p:pic>
      <p:sp>
        <p:nvSpPr>
          <p:cNvPr id="13" name="anim link head 2"/>
          <p:cNvSpPr txBox="1"/>
          <p:nvPr/>
        </p:nvSpPr>
        <p:spPr>
          <a:xfrm>
            <a:off x="1051560" y="3429000"/>
            <a:ext cx="7498080" cy="274320"/>
          </a:xfrm>
          <a:prstGeom prst="rect">
            <a:avLst/>
          </a:prstGeom>
          <a:noFill/>
          <a:ln/>
        </p:spPr>
        <p:txBody>
          <a:bodyPr wrap="square" lIns="0" tIns="0" rIns="0" bIns="0" rtlCol="0" anchor="t"/>
          <a:lstStyle/>
          <a:p>
            <a:pPr indent="0" marL="0">
              <a:buNone/>
            </a:pPr>
            <a:r>
              <a:rPr lang="en-US" sz="1100" b="1" dirty="0">
                <a:solidFill>
                  <a:srgbClr val="1A1A1A"/>
                </a:solidFill>
              </a:rPr>
              <a:t>Final product</a:t>
            </a:r>
            <a:endParaRPr lang="en-US" sz="1100" dirty="0"/>
          </a:p>
        </p:txBody>
      </p:sp>
      <p:sp>
        <p:nvSpPr>
          <p:cNvPr id="14" name="anim link url 2"/>
          <p:cNvSpPr txBox="1"/>
          <p:nvPr/>
        </p:nvSpPr>
        <p:spPr>
          <a:xfrm>
            <a:off x="1051560" y="3721608"/>
            <a:ext cx="7498080" cy="320040"/>
          </a:xfrm>
          <a:prstGeom prst="rect">
            <a:avLst/>
          </a:prstGeom>
          <a:noFill/>
          <a:ln/>
        </p:spPr>
        <p:txBody>
          <a:bodyPr wrap="square" lIns="0" tIns="0" rIns="0" bIns="0" rtlCol="0" anchor="t"/>
          <a:lstStyle/>
          <a:p>
            <a:pPr indent="0" marL="0">
              <a:buNone/>
            </a:pPr>
            <a:r>
              <a:rPr lang="en-US" sz="1000" dirty="0">
                <a:solidFill>
                  <a:srgbClr val="E8742B"/>
                </a:solidFill>
              </a:rPr>
              <a:t>storage.googleapis.com/kirana-mitra-app-web/index.html  ·  API: kirana-mitra-api-396621755403.asia-south1.run.app</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25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with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grpId="0" nodeType="withEffect">
                                  <p:stCondLst>
                                    <p:cond delay="75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94360" y="1463040"/>
            <a:ext cx="7315200" cy="274320"/>
          </a:xfrm>
          <a:prstGeom prst="rect">
            <a:avLst/>
          </a:prstGeom>
          <a:noFill/>
          <a:ln/>
        </p:spPr>
        <p:txBody>
          <a:bodyPr wrap="square" lIns="0" tIns="0" rIns="0" bIns="0" rtlCol="0" anchor="t"/>
          <a:lstStyle/>
          <a:p>
            <a:pPr indent="0" marL="0">
              <a:buNone/>
            </a:pPr>
            <a:r>
              <a:rPr lang="en-US" sz="1000" dirty="0">
                <a:solidFill>
                  <a:srgbClr val="CFCFCF"/>
                </a:solidFill>
              </a:rPr>
              <a:t>Google Cloud · H2S · AI Builder Cup</a:t>
            </a:r>
            <a:endParaRPr lang="en-US" sz="1000" dirty="0"/>
          </a:p>
        </p:txBody>
      </p:sp>
      <p:sp>
        <p:nvSpPr>
          <p:cNvPr id="3" name="anim thanks"/>
          <p:cNvSpPr txBox="1"/>
          <p:nvPr/>
        </p:nvSpPr>
        <p:spPr>
          <a:xfrm>
            <a:off x="594360" y="1828800"/>
            <a:ext cx="7315200" cy="822960"/>
          </a:xfrm>
          <a:prstGeom prst="rect">
            <a:avLst/>
          </a:prstGeom>
          <a:noFill/>
          <a:ln/>
        </p:spPr>
        <p:txBody>
          <a:bodyPr wrap="square" lIns="0" tIns="0" rIns="0" bIns="0" rtlCol="0" anchor="t"/>
          <a:lstStyle/>
          <a:p>
            <a:pPr indent="0" marL="0">
              <a:buNone/>
            </a:pPr>
            <a:r>
              <a:rPr lang="en-US" sz="4000" b="1" dirty="0">
                <a:solidFill>
                  <a:srgbClr val="FFFFFF"/>
                </a:solidFill>
              </a:rPr>
              <a:t>Thank you</a:t>
            </a:r>
            <a:endParaRPr lang="en-US" sz="4000" dirty="0"/>
          </a:p>
        </p:txBody>
      </p:sp>
      <p:sp>
        <p:nvSpPr>
          <p:cNvPr id="4" name="Text 2"/>
          <p:cNvSpPr txBox="1"/>
          <p:nvPr/>
        </p:nvSpPr>
        <p:spPr>
          <a:xfrm>
            <a:off x="594360" y="2743200"/>
            <a:ext cx="7315200" cy="274320"/>
          </a:xfrm>
          <a:prstGeom prst="rect">
            <a:avLst/>
          </a:prstGeom>
          <a:noFill/>
          <a:ln/>
        </p:spPr>
        <p:txBody>
          <a:bodyPr wrap="square" lIns="0" tIns="0" rIns="0" bIns="0" rtlCol="0" anchor="t"/>
          <a:lstStyle/>
          <a:p>
            <a:pPr indent="0" marL="0">
              <a:buNone/>
            </a:pPr>
            <a:r>
              <a:rPr lang="en-US" sz="1200" dirty="0">
                <a:solidFill>
                  <a:srgbClr val="E8742B"/>
                </a:solidFill>
              </a:rPr>
              <a:t>Kirana Copilot · singapuria_innovators</a:t>
            </a:r>
            <a:endParaRPr lang="en-US" sz="1200" dirty="0"/>
          </a:p>
        </p:txBody>
      </p:sp>
      <p:sp>
        <p:nvSpPr>
          <p:cNvPr id="5" name="Text 3"/>
          <p:cNvSpPr txBox="1"/>
          <p:nvPr/>
        </p:nvSpPr>
        <p:spPr>
          <a:xfrm>
            <a:off x="594360" y="3017520"/>
            <a:ext cx="7315200" cy="274320"/>
          </a:xfrm>
          <a:prstGeom prst="rect">
            <a:avLst/>
          </a:prstGeom>
          <a:noFill/>
          <a:ln/>
        </p:spPr>
        <p:txBody>
          <a:bodyPr wrap="square" lIns="0" tIns="0" rIns="0" bIns="0" rtlCol="0" anchor="t"/>
          <a:lstStyle/>
          <a:p>
            <a:pPr indent="0" marL="0">
              <a:buNone/>
            </a:pPr>
            <a:r>
              <a:rPr lang="en-US" sz="1000" dirty="0">
                <a:solidFill>
                  <a:srgbClr val="E6E6E6"/>
                </a:solidFill>
              </a:rPr>
              <a:t>Vandana Soni, team leader · [email]</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irana Copilot">
  <a:themeElements>
    <a:clrScheme name="Kirana Copilot">
      <a:dk1>
        <a:srgbClr val="1A1A1A"/>
      </a:dk1>
      <a:lt1>
        <a:srgbClr val="FFFFFF"/>
      </a:lt1>
      <a:dk2>
        <a:srgbClr val="5F5F5F"/>
      </a:dk2>
      <a:lt2>
        <a:srgbClr val="F3EFEA"/>
      </a:lt2>
      <a:accent1>
        <a:srgbClr val="E8742B"/>
      </a:accent1>
      <a:accent2>
        <a:srgbClr val="2E6B4E"/>
      </a:accent2>
      <a:accent3>
        <a:srgbClr val="F7DDC9"/>
      </a:accent3>
      <a:accent4>
        <a:srgbClr val="D9EDE2"/>
      </a:accent4>
      <a:accent5>
        <a:srgbClr val="FBF2E6"/>
      </a:accent5>
      <a:accent6>
        <a:srgbClr val="8A8A8A"/>
      </a:accent6>
      <a:hlink>
        <a:srgbClr val="E8742B"/>
      </a:hlink>
      <a:folHlink>
        <a:srgbClr val="2E6B4E"/>
      </a:folHlink>
    </a:clrScheme>
    <a:fontScheme name="Kirana Co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singapuria_innovators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Kirana Copilot – AI Builder Cup Submission</dc:title>
  <dc:subject>PptxGenJS Presentation</dc:subject>
  <dc:creator>singapuria_innovators</dc:creator>
  <cp:lastModifiedBy>singapuria_innovators</cp:lastModifiedBy>
  <cp:revision>1</cp:revision>
  <dcterms:created xsi:type="dcterms:W3CDTF">2026-10-18T17:07:15Z</dcterms:created>
  <dcterms:modified xsi:type="dcterms:W3CDTF">2026-10-18T17:07:15Z</dcterms:modified>
</cp:coreProperties>
</file>